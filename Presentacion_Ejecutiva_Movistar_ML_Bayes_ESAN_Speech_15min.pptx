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1 — Diapositiva 1 — Portada — Tiempo sugerido: 40 segundos.</a:t>
            </a:r>
            <a:endParaRPr lang="es-PE" sz="1200"/>
          </a:p>
          <a:p>
            <a:r>
              <a:rPr lang="es-PE" sz="1200"/>
              <a:t>Buenas noches, profesor y compañeros. Presentamos nuestro proyecto final titulado “Predicción de conversión y Optimización Bayesiana de campañas digitales y WhatsApp”. El caso es académico y ficticio, inspirado en un contexto de telecomunicaciones como Movistar, usando datos sintéticos para proteger información sensible. El objetivo central es combinar Machine Learning y Optimización Bayesiana para resolver una decisión práctica: qué campaña o flujo digital conviene probar primero cuando existen muchas combinaciones posibles y el presupuesto de experimentación es limitado. La exposición estará dividida entre cinco integrantes. Primero veremos el problema de negocio, luego los datos, el pipeline, los modelos, la evaluación técnica, la optimización bayesiana, el simulador ejecutivo, los riesgos y las conclusiones.</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1 — Diapositiva 2 — Resumen ejecutivo — Tiempo sugerido: 60 segundos.</a:t>
            </a:r>
            <a:endParaRPr lang="es-PE" sz="1200"/>
          </a:p>
          <a:p>
            <a:r>
              <a:rPr lang="es-PE" sz="1200"/>
              <a:t>El proyecto parte de una idea simple: no basta con predecir qué cliente podría convertir; también necesitamos decidir qué prueba conviene ejecutar después. En campañas digitales existen muchas combinaciones de segmento, horario, mensaje, beneficio y flujo. Probarlas al azar mediante A/B testing tradicional puede consumir tráfico, tiempo y presupuesto. Nuestra solución tiene dos capas. La primera es predictiva: un modelo de Machine Learning estima la probabilidad de conversión. La segunda es prescriptiva: la Optimización Bayesiana usa esa información para recomendar la siguiente configuración con mejor balance entre potencial e incertidumbre. Así buscamos aprender más con menos experimentos, manteniendo métricas de negocio como conversión, costo, satisfacción y contención digital.</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1 — Diapositiva 3 — Problema de negocio — Tiempo sugerido: 65 segundos.</a:t>
            </a:r>
            <a:endParaRPr lang="es-PE" sz="1200"/>
          </a:p>
          <a:p>
            <a:r>
              <a:rPr lang="es-PE" sz="1200"/>
              <a:t>El problema de negocio es una decisión bajo incertidumbre. Una empresa puede enviar campañas por medios digitales y derivar al cliente a WhatsApp o chatbot. Sin embargo, cada variante puede funcionar distinto según el segmento, el horario, el beneficio o la forma en que se redacta el mensaje. La pregunta clave es: ¿qué combinación conviene probar primero? Si probamos todas las combinaciones, el proceso se vuelve lento y costoso. Si probamos al azar, podemos desperdiciar oportunidades. Por eso convertimos el problema de negocio en un problema analítico: predecir la probabilidad de conversión y priorizar las pruebas con mayor valor esperado. El target principal es conversión exitosa: uno si el cliente completa la acción y cero si no la completa.</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2 — Diapositiva 4 — Objetivos y criterios de éxito — Tiempo sugerido: 60 segundos.</a:t>
            </a:r>
            <a:endParaRPr lang="es-PE" sz="1200"/>
          </a:p>
          <a:p>
            <a:r>
              <a:rPr lang="es-PE" sz="1200"/>
              <a:t>El objetivo general es construir un pipeline reproducible que permita estimar la conversión y recomendar configuraciones de campaña. Para cumplirlo, planteamos tres objetivos específicos. Primero, generar y preparar un dataset sintético con variables de cliente, campaña y flujo digital. Segundo, comparar una línea base con modelos alternativos de Machine Learning. Tercero, aplicar Optimización Bayesiana para seleccionar la siguiente prueba más útil. Los criterios técnicos son superar el baseline en métricas como AUC, PR-AUC y F1, y obtener probabilidades útiles para priorizar decisiones. Los criterios de negocio son encontrar buenas configuraciones con un presupuesto limitado de treinta pruebas simuladas y demostrar que la búsqueda bayesiana puede ser más eficiente que probar combinaciones al azar.</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2 — Diapositiva 5 — Dataset sintético — Tiempo sugerido: 65 segundos.</a:t>
            </a:r>
            <a:endParaRPr lang="es-PE" sz="1200"/>
          </a:p>
          <a:p>
            <a:r>
              <a:rPr lang="es-PE" sz="1200"/>
              <a:t>El dataset sintético representa cincuenta mil interacciones cliente-campaña-WhatsApp. La unidad de análisis es una interacción digital individual. Cada registro incluye variables del cliente, como segmento, antigüedad o valor del plan; variables de campaña, como horario, canal, wording y beneficio; y variables del flujo, como tipo de chatbot, número de pasos y nivel de fricción. La variable objetivo es conversión exitosa. La tasa media de conversión está alrededor del veinte por ciento, lo que permite trabajar con un problema realista y no perfectamente balanceado. La decisión de usar datos sintéticos se justifica porque en un caso real de telecomunicaciones habría restricciones de confidencialidad. Lo importante es que la data es reproducible, controlada y suficiente para demostrar el ciclo analítico completo.</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2 — Diapositiva 6 — Análisis exploratorio — Tiempo sugerido: 60 segundos.</a:t>
            </a:r>
            <a:endParaRPr lang="es-PE" sz="1200"/>
          </a:p>
          <a:p>
            <a:r>
              <a:rPr lang="es-PE" sz="1200"/>
              <a:t>En el análisis exploratorio buscamos entender qué patrones podrían explicar la conversión. Observamos que la conversión varía por segmento, por horario de envío y por beneficio ofrecido. También vemos que los flujos más cortos tienden a reducir fricción, mientras que demasiadas campañas recientes pueden generar fatiga en el cliente. Estos hallazgos son importantes porque conectan el modelo con decisiones de negocio accionables. No se trata solo de entrenar un algoritmo, sino de identificar variables que sí pueden ser modificadas por el área comercial o digital. El EDA también ayuda a detectar sesgos, revisar distribuciones y confirmar que las variables tienen sentido antes de avanzar al modelamiento.</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3 — Diapositiva 7 — Pipeline reproducible — Tiempo sugerido: 65 segundos.</a:t>
            </a:r>
            <a:endParaRPr lang="es-PE" sz="1200"/>
          </a:p>
          <a:p>
            <a:r>
              <a:rPr lang="es-PE" sz="1200"/>
              <a:t>El pipeline fue diseñado para que pueda ejecutarse paso a paso en Google Colab. Primero se genera la data sintética con una semilla fija, para que los resultados puedan reproducirse. Segundo, se realiza el análisis exploratorio con métricas y visualizaciones. Tercero, se preparan las variables: tratamiento de categóricas, escalamiento cuando corresponde y separación de predictores y target. Cuarto, usamos una partición temporal, que simula mejor el caso de campañas futuras: entrenamos con periodos anteriores y evaluamos con periodos posteriores. Quinto, entrenamos los modelos de Machine Learning. Finalmente, aplicamos Optimización Bayesiana para recomendar la siguiente configuración de campaña. Esta estructura responde a la lógica de un proyecto analítico completo.</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3 — Diapositiva 8 — Modelos de Machine Learning — Tiempo sugerido: 60 segundos.</a:t>
            </a:r>
            <a:endParaRPr lang="es-PE" sz="1200"/>
          </a:p>
          <a:p>
            <a:r>
              <a:rPr lang="es-PE" sz="1200"/>
              <a:t>En esta etapa comparamos una línea base y modelos alternativos. La línea base es una regresión logística, porque es simple, interpretable y sirve como punto de comparación. Luego evaluamos Random Forest y XGBoost. El objetivo no es usar el modelo más complejo, sino justificar cuál aporta mejor desempeño y utilidad para el caso. XGBoost aparece como el modelo principal porque suele capturar relaciones no lineales y combinaciones entre variables, como segmento, horario, beneficio y tipo de flujo. Además, entrega probabilidades que luego usamos para priorizar decisiones. La comparación con baseline es clave porque permite demostrar que el modelo elegido realmente agrega valor frente a una alternativa sencilla.</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3 — Diapositiva 9 — Evaluación del modelo ganador — Tiempo sugerido: 65 segundos.</a:t>
            </a:r>
            <a:endParaRPr lang="es-PE" sz="1200"/>
          </a:p>
          <a:p>
            <a:r>
              <a:rPr lang="es-PE" sz="1200"/>
              <a:t>La evaluación se realiza en el conjunto de prueba, no solo en entrenamiento. Reportamos AUC, PR-AUC, recall, precision y F1. Estas métricas son más adecuadas que usar únicamente accuracy, porque el objetivo es identificar conversiones y el target no está perfectamente balanceado. El AUC mide la capacidad general de separar clientes con mayor o menor probabilidad de conversión. El PR-AUC es útil cuando la clase positiva es menos frecuente. El recall indica cuántas conversiones potenciales logramos capturar, mientras que precision mide qué tan confiables son las predicciones positivas. En conjunto, estas métricas permiten evaluar desempeño técnico y su utilidad para priorizar campañas con mayor probabilidad de éxito.</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4 — Diapositiva 10 — Interpretabilidad y control de sesgos — Tiempo sugerido: 65 segundos.</a:t>
            </a:r>
            <a:endParaRPr lang="es-PE" sz="1200"/>
          </a:p>
          <a:p>
            <a:r>
              <a:rPr lang="es-PE" sz="1200"/>
              <a:t>Una vez elegido el modelo, necesitamos interpretar qué variables influyen en la decisión. Las variables más accionables son el beneficio ofrecido, el segmento, la hora de envío, el tipo de flujo y la fatiga por campañas recientes. Esto es importante porque permite convertir el resultado técnico en recomendaciones operativas. Por ejemplo, si ciertos segmentos responden mejor a flujos cortos o a beneficios específicos, el equipo comercial puede diseñar experimentos más precisos. También consideramos controles de riesgo: monitorear desempeño por segmento, revisar drift mensual, validar las recomendaciones con A/B testing y respetar criterios de privacidad y frecuencia de contacto. El modelo no debe reemplazar el criterio humano; debe apoyar una decisión mejor informada.</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4 — Diapositiva 11 — Optimización Bayesiana — Tiempo sugerido: 70 segundos.</a:t>
            </a:r>
            <a:endParaRPr lang="es-PE" sz="1200"/>
          </a:p>
          <a:p>
            <a:r>
              <a:rPr lang="es-PE" sz="1200"/>
              <a:t>Aquí aparece la capa que conecta nuestro trabajo anterior con el nuevo proyecto. La predicción responde qué podría pasar, pero la Optimización Bayesiana responde qué conviene probar ahora. El proceso empieza con algunas pruebas iniciales. Luego, un Proceso Gaussiano funciona como modelo sustituto: aprende una función aproximada entre configuraciones de campaña y resultado esperado. La ventaja es que no solo estima un valor medio, sino también incertidumbre. Después, una función de adquisición, como UCB o Expected Improvement, decide qué alternativa tiene mejor balance entre explotación y exploración. Explotación significa probar lo que ya parece bueno; exploración significa probar zonas donde aún hay incertidumbre. Así, cada experimento tiene una razón.</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4 — Diapositiva 12 — Experimento prescriptivo — Tiempo sugerido: 70 segundos.</a:t>
            </a:r>
            <a:endParaRPr lang="es-PE" sz="1200"/>
          </a:p>
          <a:p>
            <a:r>
              <a:rPr lang="es-PE" sz="1200"/>
              <a:t>Para demostrar el valor prescriptivo, comparamos Optimización Bayesiana contra Random Search usando el mismo presupuesto: treinta pruebas simuladas. La pregunta es qué estrategia encuentra una mejor configuración con menos intentos. En esta simulación, la búsqueda bayesiana alcanza antes un mejor score de negocio porque usa la información de pruebas previas para decidir la siguiente. La configuración recomendada combina segmento, hora, canal, wording, beneficio y tipo de flujo. Sin embargo, esta recomendación no debe implementarse automáticamente. Debe validarse con un experimento controlado, por ejemplo un A/B test real. El aporte principal es priorizar mejor las pruebas y reducir experimentos de bajo potencial.</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5 — Diapositiva 13 — Simulador ejecutivo en Colab — Tiempo sugerido: 55 segundos.</a:t>
            </a:r>
            <a:endParaRPr lang="es-PE" sz="1200"/>
          </a:p>
          <a:p>
            <a:r>
              <a:rPr lang="es-PE" sz="1200"/>
              <a:t>El notebook de Colab incluye un simulador ejecutivo sencillo. El usuario ingresa variables como segmento, hora, canal, wording, beneficio, flujo y características del cliente. Luego, el pipeline estima la probabilidad de conversión con el modelo de Machine Learning. Después, la capa bayesiana sugiere una configuración candidata para validar. Esto facilita comunicar el proyecto a una audiencia ejecutiva, porque convierte el modelo en una herramienta de apoyo a la decisión. La salida no es solo una métrica técnica; es una recomendación concreta: qué campaña probar, con qué segmento y bajo qué configuración. Esa es la diferencia entre un modelo predictivo aislado y una solución analítica aplicada al negocio.</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5 — Diapositiva 14 — Implementación y reproducibilidad — Tiempo sugerido: 55 segundos.</a:t>
            </a:r>
            <a:endParaRPr lang="es-PE" sz="1200"/>
          </a:p>
          <a:p>
            <a:r>
              <a:rPr lang="es-PE" sz="1200"/>
              <a:t>El proyecto está organizado como un repositorio listo para GitHub. Incluye una carpeta de notebooks con el Colab paso a paso, una carpeta de data para el dataset sintético reproducible, scripts auxiliares, archivos de requerimientos y un README con instrucciones. La reproducibilidad es importante porque permite que otra persona ejecute el proyecto y verifique los resultados. También se utilizan semillas aleatorias para mantener consistencia. La separación entre generación de datos, preparación, entrenamiento, evaluación y optimización facilita el mantenimiento del proyecto. Esta organización responde directamente a un criterio académico clave: que el código no sea solo demostrativo, sino ejecutable, documentado y verificable.</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5 — Diapositiva 15 — Impacto, riesgos y controles — Tiempo sugerido: 60 segundos.</a:t>
            </a:r>
            <a:endParaRPr lang="es-PE" sz="1200"/>
          </a:p>
          <a:p>
            <a:r>
              <a:rPr lang="es-PE" sz="1200"/>
              <a:t>El impacto esperado es reducir pruebas innecesarias, acelerar el aprendizaje de campañas y priorizar experimentos según probabilidad, costo y valor de negocio. Pero también reconocemos limitaciones. La principal es que los datos son sintéticos y no sustituyen una muestra real anonimizada. También puede existir sesgo por segmento, drift en el comportamiento de los clientes o cansancio por sobrecontacto. Por eso proponemos controles: validación con A/B testing, monitoreo mensual, métricas por segmento, revisión de privacidad y reglas de frecuencia de contacto. La implementación responsable significa que el modelo debe usarse como apoyo, no como una decisión automática sin supervisión.</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sz="1200"/>
              <a:t>INTEGRANTE 5 — Diapositiva 16 — Conclusiones y próximos pasos — Tiempo sugerido: 55 segundos.</a:t>
            </a:r>
            <a:endParaRPr lang="es-PE" sz="1200"/>
          </a:p>
          <a:p>
            <a:r>
              <a:rPr lang="es-PE" sz="1200"/>
              <a:t>Como conclusión, el proyecto demuestra un flujo completo de Machine Learning aplicado a una decisión de negocio. Primero, se construye un pipeline reproducible con datos sintéticos. Segundo, se compara una línea base con modelos alternativos y se selecciona el modelo con mejor desempeño. Tercero, la Optimización Bayesiana transforma la predicción en una recomendación prescriptiva: qué campaña o flujo conviene probar después. El siguiente paso sería reemplazar la data sintética por una muestra anonimizada real, implementar seguimiento con MLflow o una herramienta similar, publicar una API interna de recomendación y validar el uplift mediante A/B testing real. Muchas gracias.</a:t>
            </a:r>
            <a:endParaRPr lang="es-PE" sz="120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549640" cy="164592"/>
          </a:xfrm>
          <a:prstGeom prst="rect">
            <a:avLst/>
          </a:prstGeom>
          <a:solidFill>
            <a:srgbClr val="F28C28"/>
          </a:solidFill>
          <a:ln w="12700">
            <a:solidFill>
              <a:srgbClr val="F28C28"/>
            </a:solidFill>
            <a:prstDash val="solid"/>
          </a:ln>
        </p:spPr>
      </p:sp>
      <p:sp>
        <p:nvSpPr>
          <p:cNvPr id="3" name="Shape 1"/>
          <p:cNvSpPr/>
          <p:nvPr/>
        </p:nvSpPr>
        <p:spPr>
          <a:xfrm>
            <a:off x="8549640" y="0"/>
            <a:ext cx="3639312" cy="6858000"/>
          </a:xfrm>
          <a:prstGeom prst="rect">
            <a:avLst/>
          </a:prstGeom>
          <a:solidFill>
            <a:srgbClr val="003A70"/>
          </a:solidFill>
          <a:ln w="12700">
            <a:solidFill>
              <a:srgbClr val="003A70"/>
            </a:solidFill>
            <a:prstDash val="solid"/>
          </a:ln>
        </p:spPr>
      </p:sp>
      <p:sp>
        <p:nvSpPr>
          <p:cNvPr id="4" name="Text 2"/>
          <p:cNvSpPr/>
          <p:nvPr/>
        </p:nvSpPr>
        <p:spPr>
          <a:xfrm>
            <a:off x="9235440" y="658368"/>
            <a:ext cx="2011680" cy="420624"/>
          </a:xfrm>
          <a:prstGeom prst="rect">
            <a:avLst/>
          </a:prstGeom>
          <a:noFill/>
          <a:ln/>
        </p:spPr>
        <p:txBody>
          <a:bodyPr wrap="square" lIns="0" tIns="0" rIns="0" bIns="0" rtlCol="0" anchor="ctr"/>
          <a:lstStyle/>
          <a:p>
            <a:pPr algn="ctr" indent="0" marL="0">
              <a:buNone/>
            </a:pPr>
            <a:r>
              <a:rPr lang="en-US" sz="2600" b="1" dirty="0">
                <a:solidFill>
                  <a:srgbClr val="FFFFFF"/>
                </a:solidFill>
              </a:rPr>
              <a:t>ESAN</a:t>
            </a:r>
            <a:endParaRPr lang="en-US" sz="2600" dirty="0"/>
          </a:p>
        </p:txBody>
      </p:sp>
      <p:sp>
        <p:nvSpPr>
          <p:cNvPr id="5" name="Text 3"/>
          <p:cNvSpPr/>
          <p:nvPr/>
        </p:nvSpPr>
        <p:spPr>
          <a:xfrm>
            <a:off x="9098280" y="1133856"/>
            <a:ext cx="2286000" cy="182880"/>
          </a:xfrm>
          <a:prstGeom prst="rect">
            <a:avLst/>
          </a:prstGeom>
          <a:noFill/>
          <a:ln/>
        </p:spPr>
        <p:txBody>
          <a:bodyPr wrap="square" lIns="0" tIns="0" rIns="0" bIns="0" rtlCol="0" anchor="ctr"/>
          <a:lstStyle/>
          <a:p>
            <a:pPr algn="ctr" indent="0" marL="0">
              <a:buNone/>
            </a:pPr>
            <a:r>
              <a:rPr lang="en-US" sz="750" dirty="0">
                <a:solidFill>
                  <a:srgbClr val="FFFFFF"/>
                </a:solidFill>
              </a:rPr>
              <a:t>Graduate School of Business</a:t>
            </a:r>
            <a:endParaRPr lang="en-US" sz="750" dirty="0"/>
          </a:p>
        </p:txBody>
      </p:sp>
      <p:sp>
        <p:nvSpPr>
          <p:cNvPr id="6" name="Text 4"/>
          <p:cNvSpPr/>
          <p:nvPr/>
        </p:nvSpPr>
        <p:spPr>
          <a:xfrm>
            <a:off x="685800" y="658368"/>
            <a:ext cx="2743200" cy="219456"/>
          </a:xfrm>
          <a:prstGeom prst="rect">
            <a:avLst/>
          </a:prstGeom>
          <a:noFill/>
          <a:ln/>
        </p:spPr>
        <p:txBody>
          <a:bodyPr wrap="square" lIns="0" tIns="0" rIns="0" bIns="0" rtlCol="0" anchor="ctr"/>
          <a:lstStyle/>
          <a:p>
            <a:pPr indent="0" marL="0">
              <a:buNone/>
            </a:pPr>
            <a:r>
              <a:rPr lang="en-US" sz="1050" b="1" dirty="0">
                <a:solidFill>
                  <a:srgbClr val="F28C28"/>
                </a:solidFill>
              </a:rPr>
              <a:t>Proyecto final</a:t>
            </a:r>
            <a:endParaRPr lang="en-US" sz="1050" dirty="0"/>
          </a:p>
        </p:txBody>
      </p:sp>
      <p:sp>
        <p:nvSpPr>
          <p:cNvPr id="7" name="Text 5"/>
          <p:cNvSpPr/>
          <p:nvPr/>
        </p:nvSpPr>
        <p:spPr>
          <a:xfrm>
            <a:off x="685800" y="1261872"/>
            <a:ext cx="7086600" cy="1444752"/>
          </a:xfrm>
          <a:prstGeom prst="rect">
            <a:avLst/>
          </a:prstGeom>
          <a:noFill/>
          <a:ln/>
        </p:spPr>
        <p:txBody>
          <a:bodyPr wrap="square" lIns="0" tIns="0" rIns="0" bIns="0" rtlCol="0" anchor="ctr">
            <a:normAutofit/>
          </a:bodyPr>
          <a:lstStyle/>
          <a:p>
            <a:pPr indent="0" marL="0">
              <a:buNone/>
            </a:pPr>
            <a:r>
              <a:rPr lang="en-US" sz="3200" b="1" dirty="0">
                <a:solidFill>
                  <a:srgbClr val="00264D"/>
                </a:solidFill>
                <a:latin typeface="Aptos Display" pitchFamily="34" charset="0"/>
                <a:ea typeface="Aptos Display" pitchFamily="34" charset="-122"/>
                <a:cs typeface="Aptos Display" pitchFamily="34" charset="-120"/>
              </a:rPr>
              <a:t>Predicción de conversión y Optimización Bayesiana de campañas digitales y WhatsApp</a:t>
            </a:r>
            <a:endParaRPr lang="en-US" sz="3200" dirty="0"/>
          </a:p>
        </p:txBody>
      </p:sp>
      <p:sp>
        <p:nvSpPr>
          <p:cNvPr id="8" name="Shape 6"/>
          <p:cNvSpPr/>
          <p:nvPr/>
        </p:nvSpPr>
        <p:spPr>
          <a:xfrm>
            <a:off x="685800" y="2999232"/>
            <a:ext cx="6263640" cy="0"/>
          </a:xfrm>
          <a:prstGeom prst="line">
            <a:avLst/>
          </a:prstGeom>
          <a:noFill/>
          <a:ln w="27940">
            <a:solidFill>
              <a:srgbClr val="F28C28"/>
            </a:solidFill>
            <a:prstDash val="solid"/>
          </a:ln>
        </p:spPr>
      </p:sp>
      <p:sp>
        <p:nvSpPr>
          <p:cNvPr id="9" name="Text 7"/>
          <p:cNvSpPr/>
          <p:nvPr/>
        </p:nvSpPr>
        <p:spPr>
          <a:xfrm>
            <a:off x="685800" y="3310128"/>
            <a:ext cx="6492240" cy="475488"/>
          </a:xfrm>
          <a:prstGeom prst="rect">
            <a:avLst/>
          </a:prstGeom>
          <a:noFill/>
          <a:ln/>
        </p:spPr>
        <p:txBody>
          <a:bodyPr wrap="square" lIns="0" tIns="0" rIns="0" bIns="0" rtlCol="0" anchor="ctr">
            <a:normAutofit/>
          </a:bodyPr>
          <a:lstStyle/>
          <a:p>
            <a:pPr indent="0" marL="0">
              <a:buNone/>
            </a:pPr>
            <a:r>
              <a:rPr lang="en-US" sz="1350" dirty="0">
                <a:solidFill>
                  <a:srgbClr val="667085"/>
                </a:solidFill>
              </a:rPr>
              <a:t>Caso académico ficticio inspirado en Movistar</a:t>
            </a:r>
            <a:endParaRPr lang="en-US" sz="1350" dirty="0"/>
          </a:p>
          <a:p>
            <a:pPr indent="0" marL="0">
              <a:buNone/>
            </a:pPr>
            <a:r>
              <a:rPr lang="en-US" sz="1350" dirty="0">
                <a:solidFill>
                  <a:srgbClr val="667085"/>
                </a:solidFill>
              </a:rPr>
              <a:t>Datos sintéticos · Machine Learning · Optimización Bayesiana</a:t>
            </a:r>
            <a:endParaRPr lang="en-US" sz="1350" dirty="0"/>
          </a:p>
        </p:txBody>
      </p:sp>
      <p:sp>
        <p:nvSpPr>
          <p:cNvPr id="10" name="Text 8"/>
          <p:cNvSpPr/>
          <p:nvPr/>
        </p:nvSpPr>
        <p:spPr>
          <a:xfrm>
            <a:off x="685800" y="4892040"/>
            <a:ext cx="4663440" cy="804672"/>
          </a:xfrm>
          <a:prstGeom prst="rect">
            <a:avLst/>
          </a:prstGeom>
          <a:solidFill>
            <a:srgbClr val="F4F6F8"/>
          </a:solidFill>
          <a:ln>
            <a:solidFill>
              <a:srgbClr val="D9E2EC"/>
            </a:solidFill>
          </a:ln>
        </p:spPr>
        <p:txBody>
          <a:bodyPr wrap="square" lIns="1016" tIns="1016" rIns="1016" bIns="1016" rtlCol="0" anchor="ctr">
            <a:normAutofit/>
          </a:bodyPr>
          <a:lstStyle/>
          <a:p>
            <a:pPr indent="0" marL="0">
              <a:buNone/>
            </a:pPr>
            <a:r>
              <a:rPr lang="en-US" sz="1220" dirty="0">
                <a:solidFill>
                  <a:srgbClr val="263238"/>
                </a:solidFill>
              </a:rPr>
              <a:t>Alumno: Elias Cruz</a:t>
            </a:r>
            <a:endParaRPr lang="en-US" sz="1220" dirty="0"/>
          </a:p>
          <a:p>
            <a:pPr indent="0" marL="0">
              <a:buNone/>
            </a:pPr>
            <a:r>
              <a:rPr lang="en-US" sz="1220" dirty="0">
                <a:solidFill>
                  <a:srgbClr val="263238"/>
                </a:solidFill>
              </a:rPr>
              <a:t>Curso: Machine Learning &amp; Deep Learning</a:t>
            </a:r>
            <a:endParaRPr lang="en-US" sz="1220" dirty="0"/>
          </a:p>
          <a:p>
            <a:pPr indent="0" marL="0">
              <a:buNone/>
            </a:pPr>
            <a:r>
              <a:rPr lang="en-US" sz="1220" dirty="0">
                <a:solidFill>
                  <a:srgbClr val="263238"/>
                </a:solidFill>
              </a:rPr>
              <a:t>Profesor: Javier Zárate</a:t>
            </a:r>
            <a:endParaRPr lang="en-US" sz="1220" dirty="0"/>
          </a:p>
          <a:p>
            <a:pPr indent="0" marL="0">
              <a:buNone/>
            </a:pPr>
            <a:r>
              <a:rPr lang="en-US" sz="1220" dirty="0">
                <a:solidFill>
                  <a:srgbClr val="263238"/>
                </a:solidFill>
              </a:rPr>
              <a:t>Año académico: 2026</a:t>
            </a:r>
            <a:endParaRPr lang="en-US" sz="1220" dirty="0"/>
          </a:p>
        </p:txBody>
      </p:sp>
      <p:sp>
        <p:nvSpPr>
          <p:cNvPr id="11" name="Text 9"/>
          <p:cNvSpPr/>
          <p:nvPr/>
        </p:nvSpPr>
        <p:spPr>
          <a:xfrm>
            <a:off x="8942832" y="4498848"/>
            <a:ext cx="2615184" cy="1097280"/>
          </a:xfrm>
          <a:prstGeom prst="rect">
            <a:avLst/>
          </a:prstGeom>
          <a:noFill/>
          <a:ln/>
        </p:spPr>
        <p:txBody>
          <a:bodyPr wrap="square" lIns="762" tIns="762" rIns="762" bIns="762" rtlCol="0" anchor="ctr">
            <a:normAutofit/>
          </a:bodyPr>
          <a:lstStyle/>
          <a:p>
            <a:pPr algn="ctr" indent="0" marL="0">
              <a:buNone/>
            </a:pPr>
            <a:r>
              <a:rPr lang="en-US" sz="1450" b="1" dirty="0">
                <a:solidFill>
                  <a:srgbClr val="FFFFFF"/>
                </a:solidFill>
              </a:rPr>
              <a:t>Enfoque: predecir la probabilidad de conversión y recomendar la siguiente prueba de campaña con mejor potencial.</a:t>
            </a:r>
            <a:endParaRPr lang="en-US" sz="1450" dirty="0"/>
          </a:p>
        </p:txBody>
      </p:sp>
      <p:sp>
        <p:nvSpPr>
          <p:cNvPr id="12" name="Text 10"/>
          <p:cNvSpPr/>
          <p:nvPr/>
        </p:nvSpPr>
        <p:spPr>
          <a:xfrm>
            <a:off x="11018520" y="6355080"/>
            <a:ext cx="475488" cy="182880"/>
          </a:xfrm>
          <a:prstGeom prst="rect">
            <a:avLst/>
          </a:prstGeom>
          <a:noFill/>
          <a:ln/>
        </p:spPr>
        <p:txBody>
          <a:bodyPr wrap="square" lIns="0" tIns="0" rIns="0" bIns="0" rtlCol="0" anchor="ctr"/>
          <a:lstStyle/>
          <a:p>
            <a:pPr algn="r" indent="0" marL="0">
              <a:buNone/>
            </a:pPr>
            <a:r>
              <a:rPr lang="en-US" sz="800" dirty="0">
                <a:solidFill>
                  <a:srgbClr val="FFFFFF"/>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Resumen ejecutivo</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Enfoque del proyecto</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02</a:t>
            </a:r>
            <a:endParaRPr lang="en-US" sz="820" dirty="0"/>
          </a:p>
        </p:txBody>
      </p:sp>
      <p:sp>
        <p:nvSpPr>
          <p:cNvPr id="8" name="Text 6"/>
          <p:cNvSpPr/>
          <p:nvPr/>
        </p:nvSpPr>
        <p:spPr>
          <a:xfrm>
            <a:off x="685800" y="1078992"/>
            <a:ext cx="6583680" cy="804672"/>
          </a:xfrm>
          <a:prstGeom prst="rect">
            <a:avLst/>
          </a:prstGeom>
          <a:noFill/>
          <a:ln/>
        </p:spPr>
        <p:txBody>
          <a:bodyPr wrap="square" lIns="381" tIns="381" rIns="381" bIns="381" rtlCol="0" anchor="ctr">
            <a:normAutofit/>
          </a:bodyPr>
          <a:lstStyle/>
          <a:p>
            <a:pPr indent="0" marL="0">
              <a:buNone/>
            </a:pPr>
            <a:r>
              <a:rPr lang="en-US" sz="2200" b="1" dirty="0">
                <a:solidFill>
                  <a:srgbClr val="00264D"/>
                </a:solidFill>
              </a:rPr>
              <a:t>ML estima la conversión; la Optimización Bayesiana decide qué probar después.</a:t>
            </a:r>
            <a:endParaRPr lang="en-US" sz="2200" dirty="0"/>
          </a:p>
        </p:txBody>
      </p:sp>
      <p:sp>
        <p:nvSpPr>
          <p:cNvPr id="9" name="Shape 7"/>
          <p:cNvSpPr/>
          <p:nvPr/>
        </p:nvSpPr>
        <p:spPr>
          <a:xfrm>
            <a:off x="685800" y="1993392"/>
            <a:ext cx="6583680" cy="0"/>
          </a:xfrm>
          <a:prstGeom prst="line">
            <a:avLst/>
          </a:prstGeom>
          <a:noFill/>
          <a:ln w="30480">
            <a:solidFill>
              <a:srgbClr val="F28C28"/>
            </a:solidFill>
            <a:prstDash val="solid"/>
          </a:ln>
        </p:spPr>
      </p:sp>
      <p:sp>
        <p:nvSpPr>
          <p:cNvPr id="10" name="Text 8"/>
          <p:cNvSpPr/>
          <p:nvPr/>
        </p:nvSpPr>
        <p:spPr>
          <a:xfrm>
            <a:off x="685800" y="2331720"/>
            <a:ext cx="2011680" cy="219456"/>
          </a:xfrm>
          <a:prstGeom prst="rect">
            <a:avLst/>
          </a:prstGeom>
          <a:noFill/>
          <a:ln/>
        </p:spPr>
        <p:txBody>
          <a:bodyPr wrap="square" lIns="0" tIns="0" rIns="0" bIns="0" rtlCol="0" anchor="ctr"/>
          <a:lstStyle/>
          <a:p>
            <a:pPr indent="0" marL="0">
              <a:buNone/>
            </a:pPr>
            <a:r>
              <a:rPr lang="en-US" sz="850" b="1" dirty="0">
                <a:solidFill>
                  <a:srgbClr val="F28C28"/>
                </a:solidFill>
              </a:rPr>
              <a:t>PROBLEMA</a:t>
            </a:r>
            <a:endParaRPr lang="en-US" sz="850" dirty="0"/>
          </a:p>
        </p:txBody>
      </p:sp>
      <p:sp>
        <p:nvSpPr>
          <p:cNvPr id="11" name="Text 9"/>
          <p:cNvSpPr/>
          <p:nvPr/>
        </p:nvSpPr>
        <p:spPr>
          <a:xfrm>
            <a:off x="685800" y="2670048"/>
            <a:ext cx="5394960" cy="105156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Existen muchas combinaciones de campaña y flujo digital.</a:t>
            </a:r>
            <a:endParaRPr lang="en-US" sz="1320" dirty="0"/>
          </a:p>
          <a:p>
            <a:pPr indent="0" marL="0">
              <a:buNone/>
            </a:pPr>
            <a:r>
              <a:rPr lang="en-US" sz="1320" dirty="0">
                <a:solidFill>
                  <a:srgbClr val="263238"/>
                </a:solidFill>
              </a:rPr>
              <a:t>• El A/B testing tradicional consume tiempo, tráfico y presupuesto.</a:t>
            </a:r>
            <a:endParaRPr lang="en-US" sz="1320" dirty="0"/>
          </a:p>
          <a:p>
            <a:pPr indent="0" marL="0">
              <a:buNone/>
            </a:pPr>
            <a:r>
              <a:rPr lang="en-US" sz="1320" dirty="0">
                <a:solidFill>
                  <a:srgbClr val="263238"/>
                </a:solidFill>
              </a:rPr>
              <a:t>• La decisión clave es priorizar pruebas con mayor retorno esperado.</a:t>
            </a:r>
            <a:endParaRPr lang="en-US" sz="1320" dirty="0"/>
          </a:p>
        </p:txBody>
      </p:sp>
      <p:sp>
        <p:nvSpPr>
          <p:cNvPr id="12" name="Text 10"/>
          <p:cNvSpPr/>
          <p:nvPr/>
        </p:nvSpPr>
        <p:spPr>
          <a:xfrm>
            <a:off x="6720840" y="2331720"/>
            <a:ext cx="2560320" cy="219456"/>
          </a:xfrm>
          <a:prstGeom prst="rect">
            <a:avLst/>
          </a:prstGeom>
          <a:noFill/>
          <a:ln/>
        </p:spPr>
        <p:txBody>
          <a:bodyPr wrap="square" lIns="0" tIns="0" rIns="0" bIns="0" rtlCol="0" anchor="ctr"/>
          <a:lstStyle/>
          <a:p>
            <a:pPr indent="0" marL="0">
              <a:buNone/>
            </a:pPr>
            <a:r>
              <a:rPr lang="en-US" sz="850" b="1" dirty="0">
                <a:solidFill>
                  <a:srgbClr val="F28C28"/>
                </a:solidFill>
              </a:rPr>
              <a:t>SOLUCIÓN PROPUESTA</a:t>
            </a:r>
            <a:endParaRPr lang="en-US" sz="850" dirty="0"/>
          </a:p>
        </p:txBody>
      </p:sp>
      <p:sp>
        <p:nvSpPr>
          <p:cNvPr id="13" name="Text 11"/>
          <p:cNvSpPr/>
          <p:nvPr/>
        </p:nvSpPr>
        <p:spPr>
          <a:xfrm>
            <a:off x="6720840" y="2670048"/>
            <a:ext cx="4572000" cy="105156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Modelo predictivo para probabilidad de conversión.</a:t>
            </a:r>
            <a:endParaRPr lang="en-US" sz="1320" dirty="0"/>
          </a:p>
          <a:p>
            <a:pPr indent="0" marL="0">
              <a:buNone/>
            </a:pPr>
            <a:r>
              <a:rPr lang="en-US" sz="1320" dirty="0">
                <a:solidFill>
                  <a:srgbClr val="263238"/>
                </a:solidFill>
              </a:rPr>
              <a:t>• Proceso Gaussiano como modelo sustituto.</a:t>
            </a:r>
            <a:endParaRPr lang="en-US" sz="1320" dirty="0"/>
          </a:p>
          <a:p>
            <a:pPr indent="0" marL="0">
              <a:buNone/>
            </a:pPr>
            <a:r>
              <a:rPr lang="en-US" sz="1320" dirty="0">
                <a:solidFill>
                  <a:srgbClr val="263238"/>
                </a:solidFill>
              </a:rPr>
              <a:t>• Función de adquisición para balancear exploración y explotación.</a:t>
            </a:r>
            <a:endParaRPr lang="en-US" sz="1320" dirty="0"/>
          </a:p>
        </p:txBody>
      </p:sp>
      <p:sp>
        <p:nvSpPr>
          <p:cNvPr id="14" name="Text 12"/>
          <p:cNvSpPr/>
          <p:nvPr/>
        </p:nvSpPr>
        <p:spPr>
          <a:xfrm>
            <a:off x="822960" y="4892040"/>
            <a:ext cx="1645920" cy="329184"/>
          </a:xfrm>
          <a:prstGeom prst="rect">
            <a:avLst/>
          </a:prstGeom>
          <a:noFill/>
          <a:ln/>
        </p:spPr>
        <p:txBody>
          <a:bodyPr wrap="square" lIns="0" tIns="0" rIns="0" bIns="0" rtlCol="0" anchor="ctr"/>
          <a:lstStyle/>
          <a:p>
            <a:pPr algn="ctr" indent="0" marL="0">
              <a:buNone/>
            </a:pPr>
            <a:r>
              <a:rPr lang="en-US" sz="1800" b="1" dirty="0">
                <a:solidFill>
                  <a:srgbClr val="003A70"/>
                </a:solidFill>
              </a:rPr>
              <a:t>50K</a:t>
            </a:r>
            <a:endParaRPr lang="en-US" sz="1800" dirty="0"/>
          </a:p>
        </p:txBody>
      </p:sp>
      <p:sp>
        <p:nvSpPr>
          <p:cNvPr id="15" name="Text 13"/>
          <p:cNvSpPr/>
          <p:nvPr/>
        </p:nvSpPr>
        <p:spPr>
          <a:xfrm>
            <a:off x="822960" y="5276088"/>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interacciones sintéticas</a:t>
            </a:r>
            <a:endParaRPr lang="en-US" sz="840" dirty="0"/>
          </a:p>
        </p:txBody>
      </p:sp>
      <p:sp>
        <p:nvSpPr>
          <p:cNvPr id="16" name="Shape 14"/>
          <p:cNvSpPr/>
          <p:nvPr/>
        </p:nvSpPr>
        <p:spPr>
          <a:xfrm>
            <a:off x="932688" y="5605272"/>
            <a:ext cx="1426464" cy="0"/>
          </a:xfrm>
          <a:prstGeom prst="line">
            <a:avLst/>
          </a:prstGeom>
          <a:noFill/>
          <a:ln w="12700">
            <a:solidFill>
              <a:srgbClr val="D9E2EC"/>
            </a:solidFill>
            <a:prstDash val="solid"/>
          </a:ln>
        </p:spPr>
      </p:sp>
      <p:sp>
        <p:nvSpPr>
          <p:cNvPr id="17" name="Text 15"/>
          <p:cNvSpPr/>
          <p:nvPr/>
        </p:nvSpPr>
        <p:spPr>
          <a:xfrm>
            <a:off x="2880360" y="4892040"/>
            <a:ext cx="1645920" cy="329184"/>
          </a:xfrm>
          <a:prstGeom prst="rect">
            <a:avLst/>
          </a:prstGeom>
          <a:noFill/>
          <a:ln/>
        </p:spPr>
        <p:txBody>
          <a:bodyPr wrap="square" lIns="0" tIns="0" rIns="0" bIns="0" rtlCol="0" anchor="ctr"/>
          <a:lstStyle/>
          <a:p>
            <a:pPr algn="ctr" indent="0" marL="0">
              <a:buNone/>
            </a:pPr>
            <a:r>
              <a:rPr lang="en-US" sz="1800" b="1" dirty="0">
                <a:solidFill>
                  <a:srgbClr val="258750"/>
                </a:solidFill>
              </a:rPr>
              <a:t>3</a:t>
            </a:r>
            <a:endParaRPr lang="en-US" sz="1800" dirty="0"/>
          </a:p>
        </p:txBody>
      </p:sp>
      <p:sp>
        <p:nvSpPr>
          <p:cNvPr id="18" name="Text 16"/>
          <p:cNvSpPr/>
          <p:nvPr/>
        </p:nvSpPr>
        <p:spPr>
          <a:xfrm>
            <a:off x="2880360" y="5276088"/>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modelos comparados</a:t>
            </a:r>
            <a:endParaRPr lang="en-US" sz="840" dirty="0"/>
          </a:p>
        </p:txBody>
      </p:sp>
      <p:sp>
        <p:nvSpPr>
          <p:cNvPr id="19" name="Shape 17"/>
          <p:cNvSpPr/>
          <p:nvPr/>
        </p:nvSpPr>
        <p:spPr>
          <a:xfrm>
            <a:off x="2990088" y="5605272"/>
            <a:ext cx="1426464" cy="0"/>
          </a:xfrm>
          <a:prstGeom prst="line">
            <a:avLst/>
          </a:prstGeom>
          <a:noFill/>
          <a:ln w="12700">
            <a:solidFill>
              <a:srgbClr val="D9E2EC"/>
            </a:solidFill>
            <a:prstDash val="solid"/>
          </a:ln>
        </p:spPr>
      </p:sp>
      <p:sp>
        <p:nvSpPr>
          <p:cNvPr id="20" name="Text 18"/>
          <p:cNvSpPr/>
          <p:nvPr/>
        </p:nvSpPr>
        <p:spPr>
          <a:xfrm>
            <a:off x="4937760" y="4892040"/>
            <a:ext cx="1645920" cy="329184"/>
          </a:xfrm>
          <a:prstGeom prst="rect">
            <a:avLst/>
          </a:prstGeom>
          <a:noFill/>
          <a:ln/>
        </p:spPr>
        <p:txBody>
          <a:bodyPr wrap="square" lIns="0" tIns="0" rIns="0" bIns="0" rtlCol="0" anchor="ctr"/>
          <a:lstStyle/>
          <a:p>
            <a:pPr algn="ctr" indent="0" marL="0">
              <a:buNone/>
            </a:pPr>
            <a:r>
              <a:rPr lang="en-US" sz="1800" b="1" dirty="0">
                <a:solidFill>
                  <a:srgbClr val="F28C28"/>
                </a:solidFill>
              </a:rPr>
              <a:t>30</a:t>
            </a:r>
            <a:endParaRPr lang="en-US" sz="1800" dirty="0"/>
          </a:p>
        </p:txBody>
      </p:sp>
      <p:sp>
        <p:nvSpPr>
          <p:cNvPr id="21" name="Text 19"/>
          <p:cNvSpPr/>
          <p:nvPr/>
        </p:nvSpPr>
        <p:spPr>
          <a:xfrm>
            <a:off x="4937760" y="5276088"/>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pruebas simuladas</a:t>
            </a:r>
            <a:endParaRPr lang="en-US" sz="840" dirty="0"/>
          </a:p>
        </p:txBody>
      </p:sp>
      <p:sp>
        <p:nvSpPr>
          <p:cNvPr id="22" name="Shape 20"/>
          <p:cNvSpPr/>
          <p:nvPr/>
        </p:nvSpPr>
        <p:spPr>
          <a:xfrm>
            <a:off x="5047488" y="5605272"/>
            <a:ext cx="1426464" cy="0"/>
          </a:xfrm>
          <a:prstGeom prst="line">
            <a:avLst/>
          </a:prstGeom>
          <a:noFill/>
          <a:ln w="12700">
            <a:solidFill>
              <a:srgbClr val="D9E2EC"/>
            </a:solidFill>
            <a:prstDash val="solid"/>
          </a:ln>
        </p:spPr>
      </p:sp>
      <p:sp>
        <p:nvSpPr>
          <p:cNvPr id="23" name="Text 21"/>
          <p:cNvSpPr/>
          <p:nvPr/>
        </p:nvSpPr>
        <p:spPr>
          <a:xfrm>
            <a:off x="6995160" y="4892040"/>
            <a:ext cx="1828800" cy="329184"/>
          </a:xfrm>
          <a:prstGeom prst="rect">
            <a:avLst/>
          </a:prstGeom>
          <a:noFill/>
          <a:ln/>
        </p:spPr>
        <p:txBody>
          <a:bodyPr wrap="square" lIns="0" tIns="0" rIns="0" bIns="0" rtlCol="0" anchor="ctr"/>
          <a:lstStyle/>
          <a:p>
            <a:pPr algn="ctr" indent="0" marL="0">
              <a:buNone/>
            </a:pPr>
            <a:r>
              <a:rPr lang="en-US" sz="1800" b="1" dirty="0">
                <a:solidFill>
                  <a:srgbClr val="5D4AA6"/>
                </a:solidFill>
              </a:rPr>
              <a:t>XGBoost</a:t>
            </a:r>
            <a:endParaRPr lang="en-US" sz="1800" dirty="0"/>
          </a:p>
        </p:txBody>
      </p:sp>
      <p:sp>
        <p:nvSpPr>
          <p:cNvPr id="24" name="Text 22"/>
          <p:cNvSpPr/>
          <p:nvPr/>
        </p:nvSpPr>
        <p:spPr>
          <a:xfrm>
            <a:off x="6995160" y="5276088"/>
            <a:ext cx="1828800" cy="219456"/>
          </a:xfrm>
          <a:prstGeom prst="rect">
            <a:avLst/>
          </a:prstGeom>
          <a:noFill/>
          <a:ln/>
        </p:spPr>
        <p:txBody>
          <a:bodyPr wrap="square" lIns="0" tIns="0" rIns="0" bIns="0" rtlCol="0" anchor="ctr"/>
          <a:lstStyle/>
          <a:p>
            <a:pPr algn="ctr" indent="0" marL="0">
              <a:buNone/>
            </a:pPr>
            <a:r>
              <a:rPr lang="en-US" sz="840" dirty="0">
                <a:solidFill>
                  <a:srgbClr val="667085"/>
                </a:solidFill>
              </a:rPr>
              <a:t>modelo ganador</a:t>
            </a:r>
            <a:endParaRPr lang="en-US" sz="840" dirty="0"/>
          </a:p>
        </p:txBody>
      </p:sp>
      <p:sp>
        <p:nvSpPr>
          <p:cNvPr id="25" name="Shape 23"/>
          <p:cNvSpPr/>
          <p:nvPr/>
        </p:nvSpPr>
        <p:spPr>
          <a:xfrm>
            <a:off x="7104888" y="5605272"/>
            <a:ext cx="1609344" cy="0"/>
          </a:xfrm>
          <a:prstGeom prst="line">
            <a:avLst/>
          </a:prstGeom>
          <a:noFill/>
          <a:ln w="12700">
            <a:solidFill>
              <a:srgbClr val="D9E2EC"/>
            </a:solidFill>
            <a:prstDash val="solid"/>
          </a:ln>
        </p:spPr>
      </p:sp>
      <p:sp>
        <p:nvSpPr>
          <p:cNvPr id="26" name="Text 24"/>
          <p:cNvSpPr/>
          <p:nvPr/>
        </p:nvSpPr>
        <p:spPr>
          <a:xfrm>
            <a:off x="9235440" y="4892040"/>
            <a:ext cx="1645920" cy="329184"/>
          </a:xfrm>
          <a:prstGeom prst="rect">
            <a:avLst/>
          </a:prstGeom>
          <a:noFill/>
          <a:ln/>
        </p:spPr>
        <p:txBody>
          <a:bodyPr wrap="square" lIns="0" tIns="0" rIns="0" bIns="0" rtlCol="0" anchor="ctr"/>
          <a:lstStyle/>
          <a:p>
            <a:pPr algn="ctr" indent="0" marL="0">
              <a:buNone/>
            </a:pPr>
            <a:r>
              <a:rPr lang="en-US" sz="1800" b="1" dirty="0">
                <a:solidFill>
                  <a:srgbClr val="003A70"/>
                </a:solidFill>
              </a:rPr>
              <a:t>BO</a:t>
            </a:r>
            <a:endParaRPr lang="en-US" sz="1800" dirty="0"/>
          </a:p>
        </p:txBody>
      </p:sp>
      <p:sp>
        <p:nvSpPr>
          <p:cNvPr id="27" name="Text 25"/>
          <p:cNvSpPr/>
          <p:nvPr/>
        </p:nvSpPr>
        <p:spPr>
          <a:xfrm>
            <a:off x="9235440" y="5276088"/>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capa prescriptiva</a:t>
            </a:r>
            <a:endParaRPr lang="en-US" sz="840" dirty="0"/>
          </a:p>
        </p:txBody>
      </p:sp>
      <p:sp>
        <p:nvSpPr>
          <p:cNvPr id="28" name="Shape 26"/>
          <p:cNvSpPr/>
          <p:nvPr/>
        </p:nvSpPr>
        <p:spPr>
          <a:xfrm>
            <a:off x="9345168" y="5605272"/>
            <a:ext cx="1426464" cy="0"/>
          </a:xfrm>
          <a:prstGeom prst="line">
            <a:avLst/>
          </a:prstGeom>
          <a:noFill/>
          <a:ln w="12700">
            <a:solidFill>
              <a:srgbClr val="D9E2E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Problema de negocio</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Decisión bajo incertidumbre</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03</a:t>
            </a:r>
            <a:endParaRPr lang="en-US" sz="820" dirty="0"/>
          </a:p>
        </p:txBody>
      </p:sp>
      <p:sp>
        <p:nvSpPr>
          <p:cNvPr id="8" name="Text 6"/>
          <p:cNvSpPr/>
          <p:nvPr/>
        </p:nvSpPr>
        <p:spPr>
          <a:xfrm>
            <a:off x="685800" y="1051560"/>
            <a:ext cx="6949440" cy="859536"/>
          </a:xfrm>
          <a:prstGeom prst="rect">
            <a:avLst/>
          </a:prstGeom>
          <a:noFill/>
          <a:ln/>
        </p:spPr>
        <p:txBody>
          <a:bodyPr wrap="square" lIns="381" tIns="381" rIns="381" bIns="381" rtlCol="0" anchor="ctr">
            <a:normAutofit/>
          </a:bodyPr>
          <a:lstStyle/>
          <a:p>
            <a:pPr indent="0" marL="0">
              <a:buNone/>
            </a:pPr>
            <a:r>
              <a:rPr lang="en-US" sz="2200" b="1" dirty="0">
                <a:solidFill>
                  <a:srgbClr val="00264D"/>
                </a:solidFill>
              </a:rPr>
              <a:t>¿Qué combinación de segmento, horario, mensaje, beneficio y flujo conviene probar primero?</a:t>
            </a:r>
            <a:endParaRPr lang="en-US" sz="2200" dirty="0"/>
          </a:p>
        </p:txBody>
      </p:sp>
      <p:sp>
        <p:nvSpPr>
          <p:cNvPr id="9" name="Shape 7"/>
          <p:cNvSpPr/>
          <p:nvPr/>
        </p:nvSpPr>
        <p:spPr>
          <a:xfrm>
            <a:off x="685800" y="2020824"/>
            <a:ext cx="6949440" cy="0"/>
          </a:xfrm>
          <a:prstGeom prst="line">
            <a:avLst/>
          </a:prstGeom>
          <a:noFill/>
          <a:ln w="30480">
            <a:solidFill>
              <a:srgbClr val="F28C28"/>
            </a:solidFill>
            <a:prstDash val="solid"/>
          </a:ln>
        </p:spPr>
      </p:sp>
      <p:sp>
        <p:nvSpPr>
          <p:cNvPr id="10" name="Text 8"/>
          <p:cNvSpPr/>
          <p:nvPr/>
        </p:nvSpPr>
        <p:spPr>
          <a:xfrm>
            <a:off x="685800" y="2450592"/>
            <a:ext cx="2286000" cy="219456"/>
          </a:xfrm>
          <a:prstGeom prst="rect">
            <a:avLst/>
          </a:prstGeom>
          <a:noFill/>
          <a:ln/>
        </p:spPr>
        <p:txBody>
          <a:bodyPr wrap="square" lIns="0" tIns="0" rIns="0" bIns="0" rtlCol="0" anchor="ctr"/>
          <a:lstStyle/>
          <a:p>
            <a:pPr indent="0" marL="0">
              <a:buNone/>
            </a:pPr>
            <a:r>
              <a:rPr lang="en-US" sz="850" b="1" dirty="0">
                <a:solidFill>
                  <a:srgbClr val="F28C28"/>
                </a:solidFill>
              </a:rPr>
              <a:t>CONTEXTO</a:t>
            </a:r>
            <a:endParaRPr lang="en-US" sz="850" dirty="0"/>
          </a:p>
        </p:txBody>
      </p:sp>
      <p:sp>
        <p:nvSpPr>
          <p:cNvPr id="11" name="Text 9"/>
          <p:cNvSpPr/>
          <p:nvPr/>
        </p:nvSpPr>
        <p:spPr>
          <a:xfrm>
            <a:off x="685800" y="2761488"/>
            <a:ext cx="5303520" cy="105156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Las campañas digitales pueden derivar a WhatsApp o chatbot.</a:t>
            </a:r>
            <a:endParaRPr lang="en-US" sz="1320" dirty="0"/>
          </a:p>
          <a:p>
            <a:pPr indent="0" marL="0">
              <a:buNone/>
            </a:pPr>
            <a:r>
              <a:rPr lang="en-US" sz="1320" dirty="0">
                <a:solidFill>
                  <a:srgbClr val="263238"/>
                </a:solidFill>
              </a:rPr>
              <a:t>• Cada variante genera una respuesta distinta del cliente.</a:t>
            </a:r>
            <a:endParaRPr lang="en-US" sz="1320" dirty="0"/>
          </a:p>
          <a:p>
            <a:pPr indent="0" marL="0">
              <a:buNone/>
            </a:pPr>
            <a:r>
              <a:rPr lang="en-US" sz="1320" dirty="0">
                <a:solidFill>
                  <a:srgbClr val="263238"/>
                </a:solidFill>
              </a:rPr>
              <a:t>• Probar todas las combinaciones no es eficiente.</a:t>
            </a:r>
            <a:endParaRPr lang="en-US" sz="1320" dirty="0"/>
          </a:p>
        </p:txBody>
      </p:sp>
      <p:sp>
        <p:nvSpPr>
          <p:cNvPr id="12" name="Text 10"/>
          <p:cNvSpPr/>
          <p:nvPr/>
        </p:nvSpPr>
        <p:spPr>
          <a:xfrm>
            <a:off x="6400800" y="2450592"/>
            <a:ext cx="2651760" cy="219456"/>
          </a:xfrm>
          <a:prstGeom prst="rect">
            <a:avLst/>
          </a:prstGeom>
          <a:noFill/>
          <a:ln/>
        </p:spPr>
        <p:txBody>
          <a:bodyPr wrap="square" lIns="0" tIns="0" rIns="0" bIns="0" rtlCol="0" anchor="ctr"/>
          <a:lstStyle/>
          <a:p>
            <a:pPr indent="0" marL="0">
              <a:buNone/>
            </a:pPr>
            <a:r>
              <a:rPr lang="en-US" sz="850" b="1" dirty="0">
                <a:solidFill>
                  <a:srgbClr val="F28C28"/>
                </a:solidFill>
              </a:rPr>
              <a:t>DECISIÓN A MEJORAR</a:t>
            </a:r>
            <a:endParaRPr lang="en-US" sz="850" dirty="0"/>
          </a:p>
        </p:txBody>
      </p:sp>
      <p:sp>
        <p:nvSpPr>
          <p:cNvPr id="13" name="Text 11"/>
          <p:cNvSpPr/>
          <p:nvPr/>
        </p:nvSpPr>
        <p:spPr>
          <a:xfrm>
            <a:off x="6400800" y="2761488"/>
            <a:ext cx="5074920" cy="105156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Seleccionar la siguiente prueba más útil.</a:t>
            </a:r>
            <a:endParaRPr lang="en-US" sz="1320" dirty="0"/>
          </a:p>
          <a:p>
            <a:pPr indent="0" marL="0">
              <a:buNone/>
            </a:pPr>
            <a:r>
              <a:rPr lang="en-US" sz="1320" dirty="0">
                <a:solidFill>
                  <a:srgbClr val="263238"/>
                </a:solidFill>
              </a:rPr>
              <a:t>• Reducir experimentos de bajo potencial.</a:t>
            </a:r>
            <a:endParaRPr lang="en-US" sz="1320" dirty="0"/>
          </a:p>
          <a:p>
            <a:pPr indent="0" marL="0">
              <a:buNone/>
            </a:pPr>
            <a:r>
              <a:rPr lang="en-US" sz="1320" dirty="0">
                <a:solidFill>
                  <a:srgbClr val="263238"/>
                </a:solidFill>
              </a:rPr>
              <a:t>• Maximizar conversión cuidando costo y experiencia.</a:t>
            </a:r>
            <a:endParaRPr lang="en-US" sz="1320" dirty="0"/>
          </a:p>
        </p:txBody>
      </p:sp>
      <p:sp>
        <p:nvSpPr>
          <p:cNvPr id="14" name="Text 12"/>
          <p:cNvSpPr/>
          <p:nvPr/>
        </p:nvSpPr>
        <p:spPr>
          <a:xfrm>
            <a:off x="685800" y="4864608"/>
            <a:ext cx="4892040" cy="256032"/>
          </a:xfrm>
          <a:prstGeom prst="rect">
            <a:avLst/>
          </a:prstGeom>
          <a:noFill/>
          <a:ln/>
        </p:spPr>
        <p:txBody>
          <a:bodyPr wrap="square" lIns="0" tIns="0" rIns="0" bIns="0" rtlCol="0" anchor="ctr"/>
          <a:lstStyle/>
          <a:p>
            <a:pPr indent="0" marL="0">
              <a:buNone/>
            </a:pPr>
            <a:r>
              <a:rPr lang="en-US" sz="1150" b="1" dirty="0">
                <a:solidFill>
                  <a:srgbClr val="003A70"/>
                </a:solidFill>
              </a:rPr>
              <a:t>Target analítico</a:t>
            </a:r>
            <a:endParaRPr lang="en-US" sz="1150" dirty="0"/>
          </a:p>
        </p:txBody>
      </p:sp>
      <p:sp>
        <p:nvSpPr>
          <p:cNvPr id="15" name="Text 13"/>
          <p:cNvSpPr/>
          <p:nvPr/>
        </p:nvSpPr>
        <p:spPr>
          <a:xfrm>
            <a:off x="685800" y="5175504"/>
            <a:ext cx="4892040" cy="475488"/>
          </a:xfrm>
          <a:prstGeom prst="rect">
            <a:avLst/>
          </a:prstGeom>
          <a:solidFill>
            <a:srgbClr val="EAF2FA"/>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conversion_exitosa = 1 si el cliente completa la acción objetivo; 0 en caso contrario.</a:t>
            </a:r>
            <a:endParaRPr lang="en-US" sz="1140" dirty="0"/>
          </a:p>
        </p:txBody>
      </p:sp>
      <p:sp>
        <p:nvSpPr>
          <p:cNvPr id="16" name="Text 14"/>
          <p:cNvSpPr/>
          <p:nvPr/>
        </p:nvSpPr>
        <p:spPr>
          <a:xfrm>
            <a:off x="6172200" y="4864608"/>
            <a:ext cx="4892040" cy="256032"/>
          </a:xfrm>
          <a:prstGeom prst="rect">
            <a:avLst/>
          </a:prstGeom>
          <a:noFill/>
          <a:ln/>
        </p:spPr>
        <p:txBody>
          <a:bodyPr wrap="square" lIns="0" tIns="0" rIns="0" bIns="0" rtlCol="0" anchor="ctr"/>
          <a:lstStyle/>
          <a:p>
            <a:pPr indent="0" marL="0">
              <a:buNone/>
            </a:pPr>
            <a:r>
              <a:rPr lang="en-US" sz="1150" b="1" dirty="0">
                <a:solidFill>
                  <a:srgbClr val="F28C28"/>
                </a:solidFill>
              </a:rPr>
              <a:t>Valor esperado</a:t>
            </a:r>
            <a:endParaRPr lang="en-US" sz="1150" dirty="0"/>
          </a:p>
        </p:txBody>
      </p:sp>
      <p:sp>
        <p:nvSpPr>
          <p:cNvPr id="17" name="Text 15"/>
          <p:cNvSpPr/>
          <p:nvPr/>
        </p:nvSpPr>
        <p:spPr>
          <a:xfrm>
            <a:off x="6172200" y="5175504"/>
            <a:ext cx="4892040" cy="475488"/>
          </a:xfrm>
          <a:prstGeom prst="rect">
            <a:avLst/>
          </a:prstGeom>
          <a:solidFill>
            <a:srgbClr val="FFF4E8"/>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Aprender más con menos pruebas y justificar cada experimento con evidencia.</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Objetivos y criterios de éxito</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Predictivo + prescriptivo</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04</a:t>
            </a:r>
            <a:endParaRPr lang="en-US" sz="820" dirty="0"/>
          </a:p>
        </p:txBody>
      </p:sp>
      <p:sp>
        <p:nvSpPr>
          <p:cNvPr id="8" name="Text 6"/>
          <p:cNvSpPr/>
          <p:nvPr/>
        </p:nvSpPr>
        <p:spPr>
          <a:xfrm>
            <a:off x="685800" y="1051560"/>
            <a:ext cx="2926080" cy="219456"/>
          </a:xfrm>
          <a:prstGeom prst="rect">
            <a:avLst/>
          </a:prstGeom>
          <a:noFill/>
          <a:ln/>
        </p:spPr>
        <p:txBody>
          <a:bodyPr wrap="square" lIns="0" tIns="0" rIns="0" bIns="0" rtlCol="0" anchor="ctr"/>
          <a:lstStyle/>
          <a:p>
            <a:pPr indent="0" marL="0">
              <a:buNone/>
            </a:pPr>
            <a:r>
              <a:rPr lang="en-US" sz="850" b="1" dirty="0">
                <a:solidFill>
                  <a:srgbClr val="F28C28"/>
                </a:solidFill>
              </a:rPr>
              <a:t>OBJETIVO GENERAL</a:t>
            </a:r>
            <a:endParaRPr lang="en-US" sz="850" dirty="0"/>
          </a:p>
        </p:txBody>
      </p:sp>
      <p:sp>
        <p:nvSpPr>
          <p:cNvPr id="9" name="Text 7"/>
          <p:cNvSpPr/>
          <p:nvPr/>
        </p:nvSpPr>
        <p:spPr>
          <a:xfrm>
            <a:off x="685800" y="1389888"/>
            <a:ext cx="5577840" cy="114300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Construir un pipeline reproducible para estimar conversión.</a:t>
            </a:r>
            <a:endParaRPr lang="en-US" sz="1320" dirty="0"/>
          </a:p>
          <a:p>
            <a:pPr indent="0" marL="0">
              <a:buNone/>
            </a:pPr>
            <a:r>
              <a:rPr lang="en-US" sz="1320" dirty="0">
                <a:solidFill>
                  <a:srgbClr val="263238"/>
                </a:solidFill>
              </a:rPr>
              <a:t>• Comparar una línea base con modelos alternativos.</a:t>
            </a:r>
            <a:endParaRPr lang="en-US" sz="1320" dirty="0"/>
          </a:p>
          <a:p>
            <a:pPr indent="0" marL="0">
              <a:buNone/>
            </a:pPr>
            <a:r>
              <a:rPr lang="en-US" sz="1320" dirty="0">
                <a:solidFill>
                  <a:srgbClr val="263238"/>
                </a:solidFill>
              </a:rPr>
              <a:t>• Usar BO para recomendar la siguiente configuración de campaña.</a:t>
            </a:r>
            <a:endParaRPr lang="en-US" sz="1320" dirty="0"/>
          </a:p>
        </p:txBody>
      </p:sp>
      <p:sp>
        <p:nvSpPr>
          <p:cNvPr id="10" name="Text 8"/>
          <p:cNvSpPr/>
          <p:nvPr/>
        </p:nvSpPr>
        <p:spPr>
          <a:xfrm>
            <a:off x="6446520" y="1051560"/>
            <a:ext cx="2926080" cy="219456"/>
          </a:xfrm>
          <a:prstGeom prst="rect">
            <a:avLst/>
          </a:prstGeom>
          <a:noFill/>
          <a:ln/>
        </p:spPr>
        <p:txBody>
          <a:bodyPr wrap="square" lIns="0" tIns="0" rIns="0" bIns="0" rtlCol="0" anchor="ctr"/>
          <a:lstStyle/>
          <a:p>
            <a:pPr indent="0" marL="0">
              <a:buNone/>
            </a:pPr>
            <a:r>
              <a:rPr lang="en-US" sz="850" b="1" dirty="0">
                <a:solidFill>
                  <a:srgbClr val="F28C28"/>
                </a:solidFill>
              </a:rPr>
              <a:t>CRITERIOS TÉCNICOS</a:t>
            </a:r>
            <a:endParaRPr lang="en-US" sz="850" dirty="0"/>
          </a:p>
        </p:txBody>
      </p:sp>
      <p:sp>
        <p:nvSpPr>
          <p:cNvPr id="11" name="Text 9"/>
          <p:cNvSpPr/>
          <p:nvPr/>
        </p:nvSpPr>
        <p:spPr>
          <a:xfrm>
            <a:off x="6446520" y="1389888"/>
            <a:ext cx="4892040" cy="114300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AUC y PR-AUC superiores al baseline.</a:t>
            </a:r>
            <a:endParaRPr lang="en-US" sz="1320" dirty="0"/>
          </a:p>
          <a:p>
            <a:pPr indent="0" marL="0">
              <a:buNone/>
            </a:pPr>
            <a:r>
              <a:rPr lang="en-US" sz="1320" dirty="0">
                <a:solidFill>
                  <a:srgbClr val="263238"/>
                </a:solidFill>
              </a:rPr>
              <a:t>• F1 optimizado con threshold en validación.</a:t>
            </a:r>
            <a:endParaRPr lang="en-US" sz="1320" dirty="0"/>
          </a:p>
          <a:p>
            <a:pPr indent="0" marL="0">
              <a:buNone/>
            </a:pPr>
            <a:r>
              <a:rPr lang="en-US" sz="1320" dirty="0">
                <a:solidFill>
                  <a:srgbClr val="263238"/>
                </a:solidFill>
              </a:rPr>
              <a:t>• Probabilidades calibradas para priorizar decisiones.</a:t>
            </a:r>
            <a:endParaRPr lang="en-US" sz="1320" dirty="0"/>
          </a:p>
        </p:txBody>
      </p:sp>
      <p:sp>
        <p:nvSpPr>
          <p:cNvPr id="12" name="Text 10"/>
          <p:cNvSpPr/>
          <p:nvPr/>
        </p:nvSpPr>
        <p:spPr>
          <a:xfrm>
            <a:off x="685800" y="3337560"/>
            <a:ext cx="2926080" cy="219456"/>
          </a:xfrm>
          <a:prstGeom prst="rect">
            <a:avLst/>
          </a:prstGeom>
          <a:noFill/>
          <a:ln/>
        </p:spPr>
        <p:txBody>
          <a:bodyPr wrap="square" lIns="0" tIns="0" rIns="0" bIns="0" rtlCol="0" anchor="ctr"/>
          <a:lstStyle/>
          <a:p>
            <a:pPr indent="0" marL="0">
              <a:buNone/>
            </a:pPr>
            <a:r>
              <a:rPr lang="en-US" sz="850" b="1" dirty="0">
                <a:solidFill>
                  <a:srgbClr val="F28C28"/>
                </a:solidFill>
              </a:rPr>
              <a:t>CRITERIOS DE NEGOCIO</a:t>
            </a:r>
            <a:endParaRPr lang="en-US" sz="850" dirty="0"/>
          </a:p>
        </p:txBody>
      </p:sp>
      <p:sp>
        <p:nvSpPr>
          <p:cNvPr id="13" name="Text 11"/>
          <p:cNvSpPr/>
          <p:nvPr/>
        </p:nvSpPr>
        <p:spPr>
          <a:xfrm>
            <a:off x="685800" y="3675888"/>
            <a:ext cx="5577840" cy="114300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Encontrar mejores configuraciones con 30 pruebas simuladas.</a:t>
            </a:r>
            <a:endParaRPr lang="en-US" sz="1320" dirty="0"/>
          </a:p>
          <a:p>
            <a:pPr indent="0" marL="0">
              <a:buNone/>
            </a:pPr>
            <a:r>
              <a:rPr lang="en-US" sz="1320" dirty="0">
                <a:solidFill>
                  <a:srgbClr val="263238"/>
                </a:solidFill>
              </a:rPr>
              <a:t>• Comparar BO contra Random Search.</a:t>
            </a:r>
            <a:endParaRPr lang="en-US" sz="1320" dirty="0"/>
          </a:p>
          <a:p>
            <a:pPr indent="0" marL="0">
              <a:buNone/>
            </a:pPr>
            <a:r>
              <a:rPr lang="en-US" sz="1320" dirty="0">
                <a:solidFill>
                  <a:srgbClr val="263238"/>
                </a:solidFill>
              </a:rPr>
              <a:t>• Traducir resultados en recomendaciones accionables.</a:t>
            </a:r>
            <a:endParaRPr lang="en-US" sz="1320" dirty="0"/>
          </a:p>
        </p:txBody>
      </p:sp>
      <p:sp>
        <p:nvSpPr>
          <p:cNvPr id="14" name="Text 12"/>
          <p:cNvSpPr/>
          <p:nvPr/>
        </p:nvSpPr>
        <p:spPr>
          <a:xfrm>
            <a:off x="6446520" y="3337560"/>
            <a:ext cx="2926080" cy="219456"/>
          </a:xfrm>
          <a:prstGeom prst="rect">
            <a:avLst/>
          </a:prstGeom>
          <a:noFill/>
          <a:ln/>
        </p:spPr>
        <p:txBody>
          <a:bodyPr wrap="square" lIns="0" tIns="0" rIns="0" bIns="0" rtlCol="0" anchor="ctr"/>
          <a:lstStyle/>
          <a:p>
            <a:pPr indent="0" marL="0">
              <a:buNone/>
            </a:pPr>
            <a:r>
              <a:rPr lang="en-US" sz="850" b="1" dirty="0">
                <a:solidFill>
                  <a:srgbClr val="F28C28"/>
                </a:solidFill>
              </a:rPr>
              <a:t>ALCANCE</a:t>
            </a:r>
            <a:endParaRPr lang="en-US" sz="850" dirty="0"/>
          </a:p>
        </p:txBody>
      </p:sp>
      <p:sp>
        <p:nvSpPr>
          <p:cNvPr id="15" name="Text 13"/>
          <p:cNvSpPr/>
          <p:nvPr/>
        </p:nvSpPr>
        <p:spPr>
          <a:xfrm>
            <a:off x="6446520" y="3675888"/>
            <a:ext cx="4892040" cy="1143000"/>
          </a:xfrm>
          <a:prstGeom prst="rect">
            <a:avLst/>
          </a:prstGeom>
          <a:noFill/>
          <a:ln/>
        </p:spPr>
        <p:txBody>
          <a:bodyPr wrap="square" lIns="508" tIns="508" rIns="508" bIns="508" rtlCol="0" anchor="t">
            <a:normAutofit/>
          </a:bodyPr>
          <a:lstStyle/>
          <a:p>
            <a:pPr indent="0" marL="0">
              <a:buNone/>
            </a:pPr>
            <a:r>
              <a:rPr lang="en-US" sz="1320" dirty="0">
                <a:solidFill>
                  <a:srgbClr val="263238"/>
                </a:solidFill>
              </a:rPr>
              <a:t>• Caso ficticio con datos sintéticos reproducibles.</a:t>
            </a:r>
            <a:endParaRPr lang="en-US" sz="1320" dirty="0"/>
          </a:p>
          <a:p>
            <a:pPr indent="0" marL="0">
              <a:buNone/>
            </a:pPr>
            <a:r>
              <a:rPr lang="en-US" sz="1320" dirty="0">
                <a:solidFill>
                  <a:srgbClr val="263238"/>
                </a:solidFill>
              </a:rPr>
              <a:t>• Sin exposición de datos reales ni sensibles.</a:t>
            </a:r>
            <a:endParaRPr lang="en-US" sz="1320" dirty="0"/>
          </a:p>
          <a:p>
            <a:pPr indent="0" marL="0">
              <a:buNone/>
            </a:pPr>
            <a:r>
              <a:rPr lang="en-US" sz="1320" dirty="0">
                <a:solidFill>
                  <a:srgbClr val="263238"/>
                </a:solidFill>
              </a:rPr>
              <a:t>• Validación final sugerida mediante A/B testing real.</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Dataset sintético</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Unidad de análisis y variables</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05</a:t>
            </a:r>
            <a:endParaRPr lang="en-US" sz="820" dirty="0"/>
          </a:p>
        </p:txBody>
      </p:sp>
      <p:sp>
        <p:nvSpPr>
          <p:cNvPr id="8" name="Text 6"/>
          <p:cNvSpPr/>
          <p:nvPr/>
        </p:nvSpPr>
        <p:spPr>
          <a:xfrm>
            <a:off x="713232" y="1051560"/>
            <a:ext cx="1691640" cy="329184"/>
          </a:xfrm>
          <a:prstGeom prst="rect">
            <a:avLst/>
          </a:prstGeom>
          <a:noFill/>
          <a:ln/>
        </p:spPr>
        <p:txBody>
          <a:bodyPr wrap="square" lIns="0" tIns="0" rIns="0" bIns="0" rtlCol="0" anchor="ctr"/>
          <a:lstStyle/>
          <a:p>
            <a:pPr algn="ctr" indent="0" marL="0">
              <a:buNone/>
            </a:pPr>
            <a:r>
              <a:rPr lang="en-US" sz="1800" b="1" dirty="0">
                <a:solidFill>
                  <a:srgbClr val="003A70"/>
                </a:solidFill>
              </a:rPr>
              <a:t>50,000</a:t>
            </a:r>
            <a:endParaRPr lang="en-US" sz="1800" dirty="0"/>
          </a:p>
        </p:txBody>
      </p:sp>
      <p:sp>
        <p:nvSpPr>
          <p:cNvPr id="9" name="Text 7"/>
          <p:cNvSpPr/>
          <p:nvPr/>
        </p:nvSpPr>
        <p:spPr>
          <a:xfrm>
            <a:off x="713232" y="1435608"/>
            <a:ext cx="1691640" cy="219456"/>
          </a:xfrm>
          <a:prstGeom prst="rect">
            <a:avLst/>
          </a:prstGeom>
          <a:noFill/>
          <a:ln/>
        </p:spPr>
        <p:txBody>
          <a:bodyPr wrap="square" lIns="0" tIns="0" rIns="0" bIns="0" rtlCol="0" anchor="ctr"/>
          <a:lstStyle/>
          <a:p>
            <a:pPr algn="ctr" indent="0" marL="0">
              <a:buNone/>
            </a:pPr>
            <a:r>
              <a:rPr lang="en-US" sz="840" dirty="0">
                <a:solidFill>
                  <a:srgbClr val="667085"/>
                </a:solidFill>
              </a:rPr>
              <a:t>interacciones</a:t>
            </a:r>
            <a:endParaRPr lang="en-US" sz="840" dirty="0"/>
          </a:p>
        </p:txBody>
      </p:sp>
      <p:sp>
        <p:nvSpPr>
          <p:cNvPr id="10" name="Shape 8"/>
          <p:cNvSpPr/>
          <p:nvPr/>
        </p:nvSpPr>
        <p:spPr>
          <a:xfrm>
            <a:off x="822960" y="1764792"/>
            <a:ext cx="1472184" cy="0"/>
          </a:xfrm>
          <a:prstGeom prst="line">
            <a:avLst/>
          </a:prstGeom>
          <a:noFill/>
          <a:ln w="12700">
            <a:solidFill>
              <a:srgbClr val="D9E2EC"/>
            </a:solidFill>
            <a:prstDash val="solid"/>
          </a:ln>
        </p:spPr>
      </p:sp>
      <p:sp>
        <p:nvSpPr>
          <p:cNvPr id="11" name="Text 9"/>
          <p:cNvSpPr/>
          <p:nvPr/>
        </p:nvSpPr>
        <p:spPr>
          <a:xfrm>
            <a:off x="2834640" y="1051560"/>
            <a:ext cx="1691640" cy="329184"/>
          </a:xfrm>
          <a:prstGeom prst="rect">
            <a:avLst/>
          </a:prstGeom>
          <a:noFill/>
          <a:ln/>
        </p:spPr>
        <p:txBody>
          <a:bodyPr wrap="square" lIns="0" tIns="0" rIns="0" bIns="0" rtlCol="0" anchor="ctr"/>
          <a:lstStyle/>
          <a:p>
            <a:pPr algn="ctr" indent="0" marL="0">
              <a:buNone/>
            </a:pPr>
            <a:r>
              <a:rPr lang="en-US" sz="1800" b="1" dirty="0">
                <a:solidFill>
                  <a:srgbClr val="258750"/>
                </a:solidFill>
              </a:rPr>
              <a:t>21</a:t>
            </a:r>
            <a:endParaRPr lang="en-US" sz="1800" dirty="0"/>
          </a:p>
        </p:txBody>
      </p:sp>
      <p:sp>
        <p:nvSpPr>
          <p:cNvPr id="12" name="Text 10"/>
          <p:cNvSpPr/>
          <p:nvPr/>
        </p:nvSpPr>
        <p:spPr>
          <a:xfrm>
            <a:off x="2834640" y="1435608"/>
            <a:ext cx="1691640" cy="219456"/>
          </a:xfrm>
          <a:prstGeom prst="rect">
            <a:avLst/>
          </a:prstGeom>
          <a:noFill/>
          <a:ln/>
        </p:spPr>
        <p:txBody>
          <a:bodyPr wrap="square" lIns="0" tIns="0" rIns="0" bIns="0" rtlCol="0" anchor="ctr"/>
          <a:lstStyle/>
          <a:p>
            <a:pPr algn="ctr" indent="0" marL="0">
              <a:buNone/>
            </a:pPr>
            <a:r>
              <a:rPr lang="en-US" sz="840" dirty="0">
                <a:solidFill>
                  <a:srgbClr val="667085"/>
                </a:solidFill>
              </a:rPr>
              <a:t>variables</a:t>
            </a:r>
            <a:endParaRPr lang="en-US" sz="840" dirty="0"/>
          </a:p>
        </p:txBody>
      </p:sp>
      <p:sp>
        <p:nvSpPr>
          <p:cNvPr id="13" name="Shape 11"/>
          <p:cNvSpPr/>
          <p:nvPr/>
        </p:nvSpPr>
        <p:spPr>
          <a:xfrm>
            <a:off x="2944368" y="1764792"/>
            <a:ext cx="1472184" cy="0"/>
          </a:xfrm>
          <a:prstGeom prst="line">
            <a:avLst/>
          </a:prstGeom>
          <a:noFill/>
          <a:ln w="12700">
            <a:solidFill>
              <a:srgbClr val="D9E2EC"/>
            </a:solidFill>
            <a:prstDash val="solid"/>
          </a:ln>
        </p:spPr>
      </p:sp>
      <p:sp>
        <p:nvSpPr>
          <p:cNvPr id="14" name="Text 12"/>
          <p:cNvSpPr/>
          <p:nvPr/>
        </p:nvSpPr>
        <p:spPr>
          <a:xfrm>
            <a:off x="4956048" y="1051560"/>
            <a:ext cx="1691640" cy="329184"/>
          </a:xfrm>
          <a:prstGeom prst="rect">
            <a:avLst/>
          </a:prstGeom>
          <a:noFill/>
          <a:ln/>
        </p:spPr>
        <p:txBody>
          <a:bodyPr wrap="square" lIns="0" tIns="0" rIns="0" bIns="0" rtlCol="0" anchor="ctr"/>
          <a:lstStyle/>
          <a:p>
            <a:pPr algn="ctr" indent="0" marL="0">
              <a:buNone/>
            </a:pPr>
            <a:r>
              <a:rPr lang="en-US" sz="1800" b="1" dirty="0">
                <a:solidFill>
                  <a:srgbClr val="F28C28"/>
                </a:solidFill>
              </a:rPr>
              <a:t>19.9%</a:t>
            </a:r>
            <a:endParaRPr lang="en-US" sz="1800" dirty="0"/>
          </a:p>
        </p:txBody>
      </p:sp>
      <p:sp>
        <p:nvSpPr>
          <p:cNvPr id="15" name="Text 13"/>
          <p:cNvSpPr/>
          <p:nvPr/>
        </p:nvSpPr>
        <p:spPr>
          <a:xfrm>
            <a:off x="4956048" y="1435608"/>
            <a:ext cx="1691640" cy="219456"/>
          </a:xfrm>
          <a:prstGeom prst="rect">
            <a:avLst/>
          </a:prstGeom>
          <a:noFill/>
          <a:ln/>
        </p:spPr>
        <p:txBody>
          <a:bodyPr wrap="square" lIns="0" tIns="0" rIns="0" bIns="0" rtlCol="0" anchor="ctr"/>
          <a:lstStyle/>
          <a:p>
            <a:pPr algn="ctr" indent="0" marL="0">
              <a:buNone/>
            </a:pPr>
            <a:r>
              <a:rPr lang="en-US" sz="840" dirty="0">
                <a:solidFill>
                  <a:srgbClr val="667085"/>
                </a:solidFill>
              </a:rPr>
              <a:t>conversión media</a:t>
            </a:r>
            <a:endParaRPr lang="en-US" sz="840" dirty="0"/>
          </a:p>
        </p:txBody>
      </p:sp>
      <p:sp>
        <p:nvSpPr>
          <p:cNvPr id="16" name="Shape 14"/>
          <p:cNvSpPr/>
          <p:nvPr/>
        </p:nvSpPr>
        <p:spPr>
          <a:xfrm>
            <a:off x="5065776" y="1764792"/>
            <a:ext cx="1472184" cy="0"/>
          </a:xfrm>
          <a:prstGeom prst="line">
            <a:avLst/>
          </a:prstGeom>
          <a:noFill/>
          <a:ln w="12700">
            <a:solidFill>
              <a:srgbClr val="D9E2EC"/>
            </a:solidFill>
            <a:prstDash val="solid"/>
          </a:ln>
        </p:spPr>
      </p:sp>
      <p:sp>
        <p:nvSpPr>
          <p:cNvPr id="17" name="Text 15"/>
          <p:cNvSpPr/>
          <p:nvPr/>
        </p:nvSpPr>
        <p:spPr>
          <a:xfrm>
            <a:off x="7077456" y="1051560"/>
            <a:ext cx="1691640" cy="329184"/>
          </a:xfrm>
          <a:prstGeom prst="rect">
            <a:avLst/>
          </a:prstGeom>
          <a:noFill/>
          <a:ln/>
        </p:spPr>
        <p:txBody>
          <a:bodyPr wrap="square" lIns="0" tIns="0" rIns="0" bIns="0" rtlCol="0" anchor="ctr"/>
          <a:lstStyle/>
          <a:p>
            <a:pPr algn="ctr" indent="0" marL="0">
              <a:buNone/>
            </a:pPr>
            <a:r>
              <a:rPr lang="en-US" sz="1800" b="1" dirty="0">
                <a:solidFill>
                  <a:srgbClr val="5D4AA6"/>
                </a:solidFill>
              </a:rPr>
              <a:t>0</a:t>
            </a:r>
            <a:endParaRPr lang="en-US" sz="1800" dirty="0"/>
          </a:p>
        </p:txBody>
      </p:sp>
      <p:sp>
        <p:nvSpPr>
          <p:cNvPr id="18" name="Text 16"/>
          <p:cNvSpPr/>
          <p:nvPr/>
        </p:nvSpPr>
        <p:spPr>
          <a:xfrm>
            <a:off x="7077456" y="1435608"/>
            <a:ext cx="1691640" cy="219456"/>
          </a:xfrm>
          <a:prstGeom prst="rect">
            <a:avLst/>
          </a:prstGeom>
          <a:noFill/>
          <a:ln/>
        </p:spPr>
        <p:txBody>
          <a:bodyPr wrap="square" lIns="0" tIns="0" rIns="0" bIns="0" rtlCol="0" anchor="ctr"/>
          <a:lstStyle/>
          <a:p>
            <a:pPr algn="ctr" indent="0" marL="0">
              <a:buNone/>
            </a:pPr>
            <a:r>
              <a:rPr lang="en-US" sz="840" dirty="0">
                <a:solidFill>
                  <a:srgbClr val="667085"/>
                </a:solidFill>
              </a:rPr>
              <a:t>datos reales expuestos</a:t>
            </a:r>
            <a:endParaRPr lang="en-US" sz="840" dirty="0"/>
          </a:p>
        </p:txBody>
      </p:sp>
      <p:sp>
        <p:nvSpPr>
          <p:cNvPr id="19" name="Shape 17"/>
          <p:cNvSpPr/>
          <p:nvPr/>
        </p:nvSpPr>
        <p:spPr>
          <a:xfrm>
            <a:off x="7187184" y="1764792"/>
            <a:ext cx="1472184" cy="0"/>
          </a:xfrm>
          <a:prstGeom prst="line">
            <a:avLst/>
          </a:prstGeom>
          <a:noFill/>
          <a:ln w="12700">
            <a:solidFill>
              <a:srgbClr val="D9E2EC"/>
            </a:solidFill>
            <a:prstDash val="solid"/>
          </a:ln>
        </p:spPr>
      </p:sp>
      <p:sp>
        <p:nvSpPr>
          <p:cNvPr id="20" name="Text 18"/>
          <p:cNvSpPr/>
          <p:nvPr/>
        </p:nvSpPr>
        <p:spPr>
          <a:xfrm>
            <a:off x="9198864" y="1051560"/>
            <a:ext cx="1691640" cy="329184"/>
          </a:xfrm>
          <a:prstGeom prst="rect">
            <a:avLst/>
          </a:prstGeom>
          <a:noFill/>
          <a:ln/>
        </p:spPr>
        <p:txBody>
          <a:bodyPr wrap="square" lIns="0" tIns="0" rIns="0" bIns="0" rtlCol="0" anchor="ctr"/>
          <a:lstStyle/>
          <a:p>
            <a:pPr algn="ctr" indent="0" marL="0">
              <a:buNone/>
            </a:pPr>
            <a:r>
              <a:rPr lang="en-US" sz="1800" b="1" dirty="0">
                <a:solidFill>
                  <a:srgbClr val="003A70"/>
                </a:solidFill>
              </a:rPr>
              <a:t>12</a:t>
            </a:r>
            <a:endParaRPr lang="en-US" sz="1800" dirty="0"/>
          </a:p>
        </p:txBody>
      </p:sp>
      <p:sp>
        <p:nvSpPr>
          <p:cNvPr id="21" name="Text 19"/>
          <p:cNvSpPr/>
          <p:nvPr/>
        </p:nvSpPr>
        <p:spPr>
          <a:xfrm>
            <a:off x="9198864" y="1435608"/>
            <a:ext cx="1691640" cy="219456"/>
          </a:xfrm>
          <a:prstGeom prst="rect">
            <a:avLst/>
          </a:prstGeom>
          <a:noFill/>
          <a:ln/>
        </p:spPr>
        <p:txBody>
          <a:bodyPr wrap="square" lIns="0" tIns="0" rIns="0" bIns="0" rtlCol="0" anchor="ctr"/>
          <a:lstStyle/>
          <a:p>
            <a:pPr algn="ctr" indent="0" marL="0">
              <a:buNone/>
            </a:pPr>
            <a:r>
              <a:rPr lang="en-US" sz="840" dirty="0">
                <a:solidFill>
                  <a:srgbClr val="667085"/>
                </a:solidFill>
              </a:rPr>
              <a:t>meses simulados</a:t>
            </a:r>
            <a:endParaRPr lang="en-US" sz="840" dirty="0"/>
          </a:p>
        </p:txBody>
      </p:sp>
      <p:sp>
        <p:nvSpPr>
          <p:cNvPr id="22" name="Shape 20"/>
          <p:cNvSpPr/>
          <p:nvPr/>
        </p:nvSpPr>
        <p:spPr>
          <a:xfrm>
            <a:off x="9308592" y="1764792"/>
            <a:ext cx="1472184" cy="0"/>
          </a:xfrm>
          <a:prstGeom prst="line">
            <a:avLst/>
          </a:prstGeom>
          <a:noFill/>
          <a:ln w="12700">
            <a:solidFill>
              <a:srgbClr val="D9E2EC"/>
            </a:solidFill>
            <a:prstDash val="solid"/>
          </a:ln>
        </p:spPr>
      </p:sp>
      <p:sp>
        <p:nvSpPr>
          <p:cNvPr id="23" name="Text 21"/>
          <p:cNvSpPr/>
          <p:nvPr/>
        </p:nvSpPr>
        <p:spPr>
          <a:xfrm>
            <a:off x="685800" y="2514600"/>
            <a:ext cx="2926080" cy="219456"/>
          </a:xfrm>
          <a:prstGeom prst="rect">
            <a:avLst/>
          </a:prstGeom>
          <a:noFill/>
          <a:ln/>
        </p:spPr>
        <p:txBody>
          <a:bodyPr wrap="square" lIns="0" tIns="0" rIns="0" bIns="0" rtlCol="0" anchor="ctr"/>
          <a:lstStyle/>
          <a:p>
            <a:pPr indent="0" marL="0">
              <a:buNone/>
            </a:pPr>
            <a:r>
              <a:rPr lang="en-US" sz="850" b="1" dirty="0">
                <a:solidFill>
                  <a:srgbClr val="F28C28"/>
                </a:solidFill>
              </a:rPr>
              <a:t>UNIDAD DE ANÁLISIS</a:t>
            </a:r>
            <a:endParaRPr lang="en-US" sz="850" dirty="0"/>
          </a:p>
        </p:txBody>
      </p:sp>
      <p:sp>
        <p:nvSpPr>
          <p:cNvPr id="24" name="Text 22"/>
          <p:cNvSpPr/>
          <p:nvPr/>
        </p:nvSpPr>
        <p:spPr>
          <a:xfrm>
            <a:off x="685800" y="2798064"/>
            <a:ext cx="4572000" cy="420624"/>
          </a:xfrm>
          <a:prstGeom prst="rect">
            <a:avLst/>
          </a:prstGeom>
          <a:noFill/>
          <a:ln/>
        </p:spPr>
        <p:txBody>
          <a:bodyPr wrap="square" lIns="381" tIns="381" rIns="381" bIns="381" rtlCol="0" anchor="ctr">
            <a:normAutofit/>
          </a:bodyPr>
          <a:lstStyle/>
          <a:p>
            <a:pPr indent="0" marL="0">
              <a:buNone/>
            </a:pPr>
            <a:r>
              <a:rPr lang="en-US" sz="2200" b="1" dirty="0">
                <a:solidFill>
                  <a:srgbClr val="00264D"/>
                </a:solidFill>
              </a:rPr>
              <a:t>Una interacción cliente-campaña-WhatsApp.</a:t>
            </a:r>
            <a:endParaRPr lang="en-US" sz="2200" dirty="0"/>
          </a:p>
        </p:txBody>
      </p:sp>
      <p:sp>
        <p:nvSpPr>
          <p:cNvPr id="25" name="Shape 23"/>
          <p:cNvSpPr/>
          <p:nvPr/>
        </p:nvSpPr>
        <p:spPr>
          <a:xfrm>
            <a:off x="685800" y="3328416"/>
            <a:ext cx="4572000" cy="0"/>
          </a:xfrm>
          <a:prstGeom prst="line">
            <a:avLst/>
          </a:prstGeom>
          <a:noFill/>
          <a:ln w="30480">
            <a:solidFill>
              <a:srgbClr val="F28C28"/>
            </a:solidFill>
            <a:prstDash val="solid"/>
          </a:ln>
        </p:spPr>
      </p:sp>
      <p:sp>
        <p:nvSpPr>
          <p:cNvPr id="26" name="Text 24"/>
          <p:cNvSpPr/>
          <p:nvPr/>
        </p:nvSpPr>
        <p:spPr>
          <a:xfrm>
            <a:off x="5897880" y="2359152"/>
            <a:ext cx="1463040" cy="420624"/>
          </a:xfrm>
          <a:prstGeom prst="rect">
            <a:avLst/>
          </a:prstGeom>
          <a:solidFill>
            <a:srgbClr val="003A70"/>
          </a:solidFill>
          <a:ln w="8890">
            <a:solidFill>
              <a:srgbClr val="D9E2EC"/>
            </a:solidFill>
          </a:ln>
        </p:spPr>
        <p:txBody>
          <a:bodyPr wrap="square" lIns="635" tIns="635" rIns="635" bIns="635" rtlCol="0" anchor="ctr">
            <a:normAutofit/>
          </a:bodyPr>
          <a:lstStyle/>
          <a:p>
            <a:pPr algn="l" indent="0" marL="0">
              <a:buNone/>
            </a:pPr>
            <a:r>
              <a:rPr lang="en-US" sz="930" b="1" dirty="0">
                <a:solidFill>
                  <a:srgbClr val="FFFFFF"/>
                </a:solidFill>
              </a:rPr>
              <a:t>Grupo</a:t>
            </a:r>
            <a:endParaRPr lang="en-US" sz="930" dirty="0"/>
          </a:p>
        </p:txBody>
      </p:sp>
      <p:sp>
        <p:nvSpPr>
          <p:cNvPr id="27" name="Text 25"/>
          <p:cNvSpPr/>
          <p:nvPr/>
        </p:nvSpPr>
        <p:spPr>
          <a:xfrm>
            <a:off x="7360920" y="2359152"/>
            <a:ext cx="4389120" cy="420624"/>
          </a:xfrm>
          <a:prstGeom prst="rect">
            <a:avLst/>
          </a:prstGeom>
          <a:solidFill>
            <a:srgbClr val="003A70"/>
          </a:solidFill>
          <a:ln w="8890">
            <a:solidFill>
              <a:srgbClr val="D9E2EC"/>
            </a:solidFill>
          </a:ln>
        </p:spPr>
        <p:txBody>
          <a:bodyPr wrap="square" lIns="635" tIns="635" rIns="635" bIns="635" rtlCol="0" anchor="ctr">
            <a:normAutofit/>
          </a:bodyPr>
          <a:lstStyle/>
          <a:p>
            <a:pPr algn="ctr" indent="0" marL="0">
              <a:buNone/>
            </a:pPr>
            <a:r>
              <a:rPr lang="en-US" sz="930" b="1" dirty="0">
                <a:solidFill>
                  <a:srgbClr val="FFFFFF"/>
                </a:solidFill>
              </a:rPr>
              <a:t>Variables principales</a:t>
            </a:r>
            <a:endParaRPr lang="en-US" sz="930" dirty="0"/>
          </a:p>
        </p:txBody>
      </p:sp>
      <p:sp>
        <p:nvSpPr>
          <p:cNvPr id="28" name="Text 26"/>
          <p:cNvSpPr/>
          <p:nvPr/>
        </p:nvSpPr>
        <p:spPr>
          <a:xfrm>
            <a:off x="5897880" y="2779776"/>
            <a:ext cx="1463040" cy="420624"/>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Cliente</a:t>
            </a:r>
            <a:endParaRPr lang="en-US" sz="900" dirty="0"/>
          </a:p>
        </p:txBody>
      </p:sp>
      <p:sp>
        <p:nvSpPr>
          <p:cNvPr id="29" name="Text 27"/>
          <p:cNvSpPr/>
          <p:nvPr/>
        </p:nvSpPr>
        <p:spPr>
          <a:xfrm>
            <a:off x="7360920" y="2779776"/>
            <a:ext cx="4389120" cy="420624"/>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segmento, antigüedad, plan, interacciones previas</a:t>
            </a:r>
            <a:endParaRPr lang="en-US" sz="900" dirty="0"/>
          </a:p>
        </p:txBody>
      </p:sp>
      <p:sp>
        <p:nvSpPr>
          <p:cNvPr id="30" name="Text 28"/>
          <p:cNvSpPr/>
          <p:nvPr/>
        </p:nvSpPr>
        <p:spPr>
          <a:xfrm>
            <a:off x="5897880" y="3200400"/>
            <a:ext cx="1463040" cy="420624"/>
          </a:xfrm>
          <a:prstGeom prst="rect">
            <a:avLst/>
          </a:prstGeom>
          <a:solidFill>
            <a:srgbClr val="F4F6F8"/>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Campaña</a:t>
            </a:r>
            <a:endParaRPr lang="en-US" sz="900" dirty="0"/>
          </a:p>
        </p:txBody>
      </p:sp>
      <p:sp>
        <p:nvSpPr>
          <p:cNvPr id="31" name="Text 29"/>
          <p:cNvSpPr/>
          <p:nvPr/>
        </p:nvSpPr>
        <p:spPr>
          <a:xfrm>
            <a:off x="7360920" y="3200400"/>
            <a:ext cx="4389120" cy="420624"/>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hora, día, canal, wording, beneficio</a:t>
            </a:r>
            <a:endParaRPr lang="en-US" sz="900" dirty="0"/>
          </a:p>
        </p:txBody>
      </p:sp>
      <p:sp>
        <p:nvSpPr>
          <p:cNvPr id="32" name="Text 30"/>
          <p:cNvSpPr/>
          <p:nvPr/>
        </p:nvSpPr>
        <p:spPr>
          <a:xfrm>
            <a:off x="5897880" y="3621024"/>
            <a:ext cx="1463040" cy="420624"/>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Flujo digital</a:t>
            </a:r>
            <a:endParaRPr lang="en-US" sz="900" dirty="0"/>
          </a:p>
        </p:txBody>
      </p:sp>
      <p:sp>
        <p:nvSpPr>
          <p:cNvPr id="33" name="Text 31"/>
          <p:cNvSpPr/>
          <p:nvPr/>
        </p:nvSpPr>
        <p:spPr>
          <a:xfrm>
            <a:off x="7360920" y="3621024"/>
            <a:ext cx="4389120" cy="420624"/>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tipo de flujo, pasos, tiempo de respuesta</a:t>
            </a:r>
            <a:endParaRPr lang="en-US" sz="900" dirty="0"/>
          </a:p>
        </p:txBody>
      </p:sp>
      <p:sp>
        <p:nvSpPr>
          <p:cNvPr id="34" name="Text 32"/>
          <p:cNvSpPr/>
          <p:nvPr/>
        </p:nvSpPr>
        <p:spPr>
          <a:xfrm>
            <a:off x="5897880" y="4041648"/>
            <a:ext cx="1463040" cy="420624"/>
          </a:xfrm>
          <a:prstGeom prst="rect">
            <a:avLst/>
          </a:prstGeom>
          <a:solidFill>
            <a:srgbClr val="F4F6F8"/>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Resultado</a:t>
            </a:r>
            <a:endParaRPr lang="en-US" sz="900" dirty="0"/>
          </a:p>
        </p:txBody>
      </p:sp>
      <p:sp>
        <p:nvSpPr>
          <p:cNvPr id="35" name="Text 33"/>
          <p:cNvSpPr/>
          <p:nvPr/>
        </p:nvSpPr>
        <p:spPr>
          <a:xfrm>
            <a:off x="7360920" y="4041648"/>
            <a:ext cx="4389120" cy="420624"/>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CTR, contención, CSAT, conversión exitosa</a:t>
            </a:r>
            <a:endParaRPr lang="en-US" sz="900" dirty="0"/>
          </a:p>
        </p:txBody>
      </p:sp>
      <p:sp>
        <p:nvSpPr>
          <p:cNvPr id="36" name="Text 34"/>
          <p:cNvSpPr/>
          <p:nvPr/>
        </p:nvSpPr>
        <p:spPr>
          <a:xfrm>
            <a:off x="685800" y="4892040"/>
            <a:ext cx="4846320" cy="256032"/>
          </a:xfrm>
          <a:prstGeom prst="rect">
            <a:avLst/>
          </a:prstGeom>
          <a:noFill/>
          <a:ln/>
        </p:spPr>
        <p:txBody>
          <a:bodyPr wrap="square" lIns="0" tIns="0" rIns="0" bIns="0" rtlCol="0" anchor="ctr"/>
          <a:lstStyle/>
          <a:p>
            <a:pPr indent="0" marL="0">
              <a:buNone/>
            </a:pPr>
            <a:r>
              <a:rPr lang="en-US" sz="1150" b="1" dirty="0">
                <a:solidFill>
                  <a:srgbClr val="C62828"/>
                </a:solidFill>
              </a:rPr>
              <a:t>Control metodológico</a:t>
            </a:r>
            <a:endParaRPr lang="en-US" sz="1150" dirty="0"/>
          </a:p>
        </p:txBody>
      </p:sp>
      <p:sp>
        <p:nvSpPr>
          <p:cNvPr id="37" name="Text 35"/>
          <p:cNvSpPr/>
          <p:nvPr/>
        </p:nvSpPr>
        <p:spPr>
          <a:xfrm>
            <a:off x="685800" y="5202936"/>
            <a:ext cx="4846320" cy="493776"/>
          </a:xfrm>
          <a:prstGeom prst="rect">
            <a:avLst/>
          </a:prstGeom>
          <a:solidFill>
            <a:srgbClr val="FFF0F0"/>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Se excluyen variables posteriores a la conversión para evitar leakage y sobrestimar el desempeño.</a:t>
            </a:r>
            <a:endParaRPr lang="en-US" sz="11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Análisis exploratorio</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Funnel digital simulado</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06</a:t>
            </a:r>
            <a:endParaRPr lang="en-US" sz="820" dirty="0"/>
          </a:p>
        </p:txBody>
      </p:sp>
      <p:pic>
        <p:nvPicPr>
          <p:cNvPr id="8" name="Image 0" descr="/mnt/data/movistar_bayes_ml_proyecto/figures/eda_kpis.png">    </p:cNvPr>
          <p:cNvPicPr>
            <a:picLocks noChangeAspect="1"/>
          </p:cNvPicPr>
          <p:nvPr/>
        </p:nvPicPr>
        <p:blipFill>
          <a:blip r:embed="rId1"/>
          <a:stretch>
            <a:fillRect/>
          </a:stretch>
        </p:blipFill>
        <p:spPr>
          <a:xfrm>
            <a:off x="658368" y="1163574"/>
            <a:ext cx="5166360" cy="2583180"/>
          </a:xfrm>
          <a:prstGeom prst="rect">
            <a:avLst/>
          </a:prstGeom>
        </p:spPr>
      </p:pic>
      <p:pic>
        <p:nvPicPr>
          <p:cNvPr id="9" name="Image 1" descr="/mnt/data/movistar_bayes_ml_proyecto/figures/eda_hora_conversion.png">    </p:cNvPr>
          <p:cNvPicPr>
            <a:picLocks noChangeAspect="1"/>
          </p:cNvPicPr>
          <p:nvPr/>
        </p:nvPicPr>
        <p:blipFill>
          <a:blip r:embed="rId2"/>
          <a:stretch>
            <a:fillRect/>
          </a:stretch>
        </p:blipFill>
        <p:spPr>
          <a:xfrm>
            <a:off x="6263640" y="1140714"/>
            <a:ext cx="5257800" cy="2628900"/>
          </a:xfrm>
          <a:prstGeom prst="rect">
            <a:avLst/>
          </a:prstGeom>
        </p:spPr>
      </p:pic>
      <p:sp>
        <p:nvSpPr>
          <p:cNvPr id="10" name="Text 6"/>
          <p:cNvSpPr/>
          <p:nvPr/>
        </p:nvSpPr>
        <p:spPr>
          <a:xfrm>
            <a:off x="731520" y="4224528"/>
            <a:ext cx="2743200" cy="219456"/>
          </a:xfrm>
          <a:prstGeom prst="rect">
            <a:avLst/>
          </a:prstGeom>
          <a:noFill/>
          <a:ln/>
        </p:spPr>
        <p:txBody>
          <a:bodyPr wrap="square" lIns="0" tIns="0" rIns="0" bIns="0" rtlCol="0" anchor="ctr"/>
          <a:lstStyle/>
          <a:p>
            <a:pPr indent="0" marL="0">
              <a:buNone/>
            </a:pPr>
            <a:r>
              <a:rPr lang="en-US" sz="850" b="1" dirty="0">
                <a:solidFill>
                  <a:srgbClr val="F28C28"/>
                </a:solidFill>
              </a:rPr>
              <a:t>HALLAZGOS DE NEGOCIO</a:t>
            </a:r>
            <a:endParaRPr lang="en-US" sz="850" dirty="0"/>
          </a:p>
        </p:txBody>
      </p:sp>
      <p:sp>
        <p:nvSpPr>
          <p:cNvPr id="11" name="Text 7"/>
          <p:cNvSpPr/>
          <p:nvPr/>
        </p:nvSpPr>
        <p:spPr>
          <a:xfrm>
            <a:off x="777240" y="4572000"/>
            <a:ext cx="10378440" cy="932688"/>
          </a:xfrm>
          <a:prstGeom prst="rect">
            <a:avLst/>
          </a:prstGeom>
          <a:noFill/>
          <a:ln/>
        </p:spPr>
        <p:txBody>
          <a:bodyPr wrap="square" lIns="508" tIns="508" rIns="508" bIns="508" rtlCol="0" anchor="t">
            <a:normAutofit/>
          </a:bodyPr>
          <a:lstStyle/>
          <a:p>
            <a:pPr indent="0" marL="0">
              <a:buNone/>
            </a:pPr>
            <a:r>
              <a:rPr lang="en-US" sz="1250" dirty="0">
                <a:solidFill>
                  <a:srgbClr val="263238"/>
                </a:solidFill>
              </a:rPr>
              <a:t>• La conversión cambia por horario y segmento.</a:t>
            </a:r>
            <a:endParaRPr lang="en-US" sz="1250" dirty="0"/>
          </a:p>
          <a:p>
            <a:pPr indent="0" marL="0">
              <a:buNone/>
            </a:pPr>
            <a:r>
              <a:rPr lang="en-US" sz="1250" dirty="0">
                <a:solidFill>
                  <a:srgbClr val="263238"/>
                </a:solidFill>
              </a:rPr>
              <a:t>• Los beneficios modifican la respuesta esperada.</a:t>
            </a:r>
            <a:endParaRPr lang="en-US" sz="1250" dirty="0"/>
          </a:p>
          <a:p>
            <a:pPr indent="0" marL="0">
              <a:buNone/>
            </a:pPr>
            <a:r>
              <a:rPr lang="en-US" sz="1250" dirty="0">
                <a:solidFill>
                  <a:srgbClr val="263238"/>
                </a:solidFill>
              </a:rPr>
              <a:t>• El flujo corto reduce fricción y ayuda a convertir.</a:t>
            </a:r>
            <a:endParaRPr lang="en-US" sz="1250" dirty="0"/>
          </a:p>
          <a:p>
            <a:pPr indent="0" marL="0">
              <a:buNone/>
            </a:pPr>
            <a:r>
              <a:rPr lang="en-US" sz="1250" dirty="0">
                <a:solidFill>
                  <a:srgbClr val="263238"/>
                </a:solidFill>
              </a:rPr>
              <a:t>• La fatiga por campañas recientes debe controlarse.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Pipeline reproducible</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Colab + scikit-learn + XGBoost</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07</a:t>
            </a:r>
            <a:endParaRPr lang="en-US" sz="820" dirty="0"/>
          </a:p>
        </p:txBody>
      </p:sp>
      <p:sp>
        <p:nvSpPr>
          <p:cNvPr id="8" name="Shape 6"/>
          <p:cNvSpPr/>
          <p:nvPr/>
        </p:nvSpPr>
        <p:spPr>
          <a:xfrm>
            <a:off x="1828800" y="1856232"/>
            <a:ext cx="502920" cy="0"/>
          </a:xfrm>
          <a:prstGeom prst="line">
            <a:avLst/>
          </a:prstGeom>
          <a:noFill/>
          <a:ln w="20320">
            <a:solidFill>
              <a:srgbClr val="667085"/>
            </a:solidFill>
            <a:prstDash val="solid"/>
            <a:tailEnd type="triangle"/>
          </a:ln>
        </p:spPr>
      </p:sp>
      <p:sp>
        <p:nvSpPr>
          <p:cNvPr id="9" name="Shape 7"/>
          <p:cNvSpPr/>
          <p:nvPr/>
        </p:nvSpPr>
        <p:spPr>
          <a:xfrm>
            <a:off x="3566160" y="1856232"/>
            <a:ext cx="502920" cy="0"/>
          </a:xfrm>
          <a:prstGeom prst="line">
            <a:avLst/>
          </a:prstGeom>
          <a:noFill/>
          <a:ln w="20320">
            <a:solidFill>
              <a:srgbClr val="667085"/>
            </a:solidFill>
            <a:prstDash val="solid"/>
            <a:tailEnd type="triangle"/>
          </a:ln>
        </p:spPr>
      </p:sp>
      <p:sp>
        <p:nvSpPr>
          <p:cNvPr id="10" name="Shape 8"/>
          <p:cNvSpPr/>
          <p:nvPr/>
        </p:nvSpPr>
        <p:spPr>
          <a:xfrm>
            <a:off x="5303520" y="1856232"/>
            <a:ext cx="502920" cy="0"/>
          </a:xfrm>
          <a:prstGeom prst="line">
            <a:avLst/>
          </a:prstGeom>
          <a:noFill/>
          <a:ln w="20320">
            <a:solidFill>
              <a:srgbClr val="667085"/>
            </a:solidFill>
            <a:prstDash val="solid"/>
            <a:tailEnd type="triangle"/>
          </a:ln>
        </p:spPr>
      </p:sp>
      <p:sp>
        <p:nvSpPr>
          <p:cNvPr id="11" name="Shape 9"/>
          <p:cNvSpPr/>
          <p:nvPr/>
        </p:nvSpPr>
        <p:spPr>
          <a:xfrm>
            <a:off x="7040880" y="1856232"/>
            <a:ext cx="502920" cy="0"/>
          </a:xfrm>
          <a:prstGeom prst="line">
            <a:avLst/>
          </a:prstGeom>
          <a:noFill/>
          <a:ln w="20320">
            <a:solidFill>
              <a:srgbClr val="667085"/>
            </a:solidFill>
            <a:prstDash val="solid"/>
            <a:tailEnd type="triangle"/>
          </a:ln>
        </p:spPr>
      </p:sp>
      <p:sp>
        <p:nvSpPr>
          <p:cNvPr id="12" name="Shape 10"/>
          <p:cNvSpPr/>
          <p:nvPr/>
        </p:nvSpPr>
        <p:spPr>
          <a:xfrm>
            <a:off x="8778240" y="1856232"/>
            <a:ext cx="502920" cy="0"/>
          </a:xfrm>
          <a:prstGeom prst="line">
            <a:avLst/>
          </a:prstGeom>
          <a:noFill/>
          <a:ln w="20320">
            <a:solidFill>
              <a:srgbClr val="667085"/>
            </a:solidFill>
            <a:prstDash val="solid"/>
            <a:tailEnd type="triangle"/>
          </a:ln>
        </p:spPr>
      </p:sp>
      <p:sp>
        <p:nvSpPr>
          <p:cNvPr id="13" name="Text 11"/>
          <p:cNvSpPr/>
          <p:nvPr/>
        </p:nvSpPr>
        <p:spPr>
          <a:xfrm>
            <a:off x="777240" y="1481328"/>
            <a:ext cx="1078992" cy="713232"/>
          </a:xfrm>
          <a:prstGeom prst="rect">
            <a:avLst/>
          </a:prstGeom>
          <a:solidFill>
            <a:srgbClr val="003A70"/>
          </a:solidFill>
          <a:ln>
            <a:solidFill>
              <a:srgbClr val="003A70"/>
            </a:solidFill>
          </a:ln>
        </p:spPr>
        <p:txBody>
          <a:bodyPr wrap="square" lIns="508" tIns="508" rIns="508" bIns="508" rtlCol="0" anchor="ctr">
            <a:normAutofit/>
          </a:bodyPr>
          <a:lstStyle/>
          <a:p>
            <a:pPr algn="ctr" indent="0" marL="0">
              <a:buNone/>
            </a:pPr>
            <a:r>
              <a:rPr lang="en-US" sz="1150" b="1" dirty="0">
                <a:solidFill>
                  <a:srgbClr val="FFFFFF"/>
                </a:solidFill>
              </a:rPr>
              <a:t>1</a:t>
            </a:r>
            <a:endParaRPr lang="en-US" sz="1150" dirty="0"/>
          </a:p>
          <a:p>
            <a:pPr algn="ctr" indent="0" marL="0">
              <a:buNone/>
            </a:pPr>
            <a:r>
              <a:rPr lang="en-US" sz="1150" b="1" dirty="0">
                <a:solidFill>
                  <a:srgbClr val="FFFFFF"/>
                </a:solidFill>
              </a:rPr>
              <a:t>Datos</a:t>
            </a:r>
            <a:endParaRPr lang="en-US" sz="1150" dirty="0"/>
          </a:p>
        </p:txBody>
      </p:sp>
      <p:sp>
        <p:nvSpPr>
          <p:cNvPr id="14" name="Text 12"/>
          <p:cNvSpPr/>
          <p:nvPr/>
        </p:nvSpPr>
        <p:spPr>
          <a:xfrm>
            <a:off x="2514600" y="1481328"/>
            <a:ext cx="1078992" cy="713232"/>
          </a:xfrm>
          <a:prstGeom prst="rect">
            <a:avLst/>
          </a:prstGeom>
          <a:solidFill>
            <a:srgbClr val="258750"/>
          </a:solidFill>
          <a:ln>
            <a:solidFill>
              <a:srgbClr val="258750"/>
            </a:solidFill>
          </a:ln>
        </p:spPr>
        <p:txBody>
          <a:bodyPr wrap="square" lIns="508" tIns="508" rIns="508" bIns="508" rtlCol="0" anchor="ctr">
            <a:normAutofit/>
          </a:bodyPr>
          <a:lstStyle/>
          <a:p>
            <a:pPr algn="ctr" indent="0" marL="0">
              <a:buNone/>
            </a:pPr>
            <a:r>
              <a:rPr lang="en-US" sz="1150" b="1" dirty="0">
                <a:solidFill>
                  <a:srgbClr val="FFFFFF"/>
                </a:solidFill>
              </a:rPr>
              <a:t>2</a:t>
            </a:r>
            <a:endParaRPr lang="en-US" sz="1150" dirty="0"/>
          </a:p>
          <a:p>
            <a:pPr algn="ctr" indent="0" marL="0">
              <a:buNone/>
            </a:pPr>
            <a:r>
              <a:rPr lang="en-US" sz="1150" b="1" dirty="0">
                <a:solidFill>
                  <a:srgbClr val="FFFFFF"/>
                </a:solidFill>
              </a:rPr>
              <a:t>EDA</a:t>
            </a:r>
            <a:endParaRPr lang="en-US" sz="1150" dirty="0"/>
          </a:p>
        </p:txBody>
      </p:sp>
      <p:sp>
        <p:nvSpPr>
          <p:cNvPr id="15" name="Text 13"/>
          <p:cNvSpPr/>
          <p:nvPr/>
        </p:nvSpPr>
        <p:spPr>
          <a:xfrm>
            <a:off x="4251960" y="1481328"/>
            <a:ext cx="1078992" cy="713232"/>
          </a:xfrm>
          <a:prstGeom prst="rect">
            <a:avLst/>
          </a:prstGeom>
          <a:solidFill>
            <a:srgbClr val="003A70"/>
          </a:solidFill>
          <a:ln>
            <a:solidFill>
              <a:srgbClr val="003A70"/>
            </a:solidFill>
          </a:ln>
        </p:spPr>
        <p:txBody>
          <a:bodyPr wrap="square" lIns="508" tIns="508" rIns="508" bIns="508" rtlCol="0" anchor="ctr">
            <a:normAutofit/>
          </a:bodyPr>
          <a:lstStyle/>
          <a:p>
            <a:pPr algn="ctr" indent="0" marL="0">
              <a:buNone/>
            </a:pPr>
            <a:r>
              <a:rPr lang="en-US" sz="1150" b="1" dirty="0">
                <a:solidFill>
                  <a:srgbClr val="FFFFFF"/>
                </a:solidFill>
              </a:rPr>
              <a:t>3</a:t>
            </a:r>
            <a:endParaRPr lang="en-US" sz="1150" dirty="0"/>
          </a:p>
          <a:p>
            <a:pPr algn="ctr" indent="0" marL="0">
              <a:buNone/>
            </a:pPr>
            <a:r>
              <a:rPr lang="en-US" sz="1150" b="1" dirty="0">
                <a:solidFill>
                  <a:srgbClr val="FFFFFF"/>
                </a:solidFill>
              </a:rPr>
              <a:t>Preparación</a:t>
            </a:r>
            <a:endParaRPr lang="en-US" sz="1150" dirty="0"/>
          </a:p>
        </p:txBody>
      </p:sp>
      <p:sp>
        <p:nvSpPr>
          <p:cNvPr id="16" name="Text 14"/>
          <p:cNvSpPr/>
          <p:nvPr/>
        </p:nvSpPr>
        <p:spPr>
          <a:xfrm>
            <a:off x="5989320" y="1481328"/>
            <a:ext cx="1078992" cy="713232"/>
          </a:xfrm>
          <a:prstGeom prst="rect">
            <a:avLst/>
          </a:prstGeom>
          <a:solidFill>
            <a:srgbClr val="F28C28"/>
          </a:solidFill>
          <a:ln>
            <a:solidFill>
              <a:srgbClr val="F28C28"/>
            </a:solidFill>
          </a:ln>
        </p:spPr>
        <p:txBody>
          <a:bodyPr wrap="square" lIns="508" tIns="508" rIns="508" bIns="508" rtlCol="0" anchor="ctr">
            <a:normAutofit/>
          </a:bodyPr>
          <a:lstStyle/>
          <a:p>
            <a:pPr algn="ctr" indent="0" marL="0">
              <a:buNone/>
            </a:pPr>
            <a:r>
              <a:rPr lang="en-US" sz="1150" b="1" dirty="0">
                <a:solidFill>
                  <a:srgbClr val="FFFFFF"/>
                </a:solidFill>
              </a:rPr>
              <a:t>4</a:t>
            </a:r>
            <a:endParaRPr lang="en-US" sz="1150" dirty="0"/>
          </a:p>
          <a:p>
            <a:pPr algn="ctr" indent="0" marL="0">
              <a:buNone/>
            </a:pPr>
            <a:r>
              <a:rPr lang="en-US" sz="1150" b="1" dirty="0">
                <a:solidFill>
                  <a:srgbClr val="FFFFFF"/>
                </a:solidFill>
              </a:rPr>
              <a:t>Split temporal</a:t>
            </a:r>
            <a:endParaRPr lang="en-US" sz="1150" dirty="0"/>
          </a:p>
        </p:txBody>
      </p:sp>
      <p:sp>
        <p:nvSpPr>
          <p:cNvPr id="17" name="Text 15"/>
          <p:cNvSpPr/>
          <p:nvPr/>
        </p:nvSpPr>
        <p:spPr>
          <a:xfrm>
            <a:off x="7726680" y="1481328"/>
            <a:ext cx="1078992" cy="713232"/>
          </a:xfrm>
          <a:prstGeom prst="rect">
            <a:avLst/>
          </a:prstGeom>
          <a:solidFill>
            <a:srgbClr val="5D4AA6"/>
          </a:solidFill>
          <a:ln>
            <a:solidFill>
              <a:srgbClr val="5D4AA6"/>
            </a:solidFill>
          </a:ln>
        </p:spPr>
        <p:txBody>
          <a:bodyPr wrap="square" lIns="508" tIns="508" rIns="508" bIns="508" rtlCol="0" anchor="ctr">
            <a:normAutofit/>
          </a:bodyPr>
          <a:lstStyle/>
          <a:p>
            <a:pPr algn="ctr" indent="0" marL="0">
              <a:buNone/>
            </a:pPr>
            <a:r>
              <a:rPr lang="en-US" sz="1150" b="1" dirty="0">
                <a:solidFill>
                  <a:srgbClr val="FFFFFF"/>
                </a:solidFill>
              </a:rPr>
              <a:t>5</a:t>
            </a:r>
            <a:endParaRPr lang="en-US" sz="1150" dirty="0"/>
          </a:p>
          <a:p>
            <a:pPr algn="ctr" indent="0" marL="0">
              <a:buNone/>
            </a:pPr>
            <a:r>
              <a:rPr lang="en-US" sz="1150" b="1" dirty="0">
                <a:solidFill>
                  <a:srgbClr val="FFFFFF"/>
                </a:solidFill>
              </a:rPr>
              <a:t>Modelos ML</a:t>
            </a:r>
            <a:endParaRPr lang="en-US" sz="1150" dirty="0"/>
          </a:p>
        </p:txBody>
      </p:sp>
      <p:sp>
        <p:nvSpPr>
          <p:cNvPr id="18" name="Text 16"/>
          <p:cNvSpPr/>
          <p:nvPr/>
        </p:nvSpPr>
        <p:spPr>
          <a:xfrm>
            <a:off x="9464040" y="1481328"/>
            <a:ext cx="1078992" cy="713232"/>
          </a:xfrm>
          <a:prstGeom prst="rect">
            <a:avLst/>
          </a:prstGeom>
          <a:solidFill>
            <a:srgbClr val="003A70"/>
          </a:solidFill>
          <a:ln>
            <a:solidFill>
              <a:srgbClr val="003A70"/>
            </a:solidFill>
          </a:ln>
        </p:spPr>
        <p:txBody>
          <a:bodyPr wrap="square" lIns="508" tIns="508" rIns="508" bIns="508" rtlCol="0" anchor="ctr">
            <a:normAutofit/>
          </a:bodyPr>
          <a:lstStyle/>
          <a:p>
            <a:pPr algn="ctr" indent="0" marL="0">
              <a:buNone/>
            </a:pPr>
            <a:r>
              <a:rPr lang="en-US" sz="1150" b="1" dirty="0">
                <a:solidFill>
                  <a:srgbClr val="FFFFFF"/>
                </a:solidFill>
              </a:rPr>
              <a:t>6</a:t>
            </a:r>
            <a:endParaRPr lang="en-US" sz="1150" dirty="0"/>
          </a:p>
          <a:p>
            <a:pPr algn="ctr" indent="0" marL="0">
              <a:buNone/>
            </a:pPr>
            <a:r>
              <a:rPr lang="en-US" sz="1150" b="1" dirty="0">
                <a:solidFill>
                  <a:srgbClr val="FFFFFF"/>
                </a:solidFill>
              </a:rPr>
              <a:t>BO</a:t>
            </a:r>
            <a:endParaRPr lang="en-US" sz="1150" dirty="0"/>
          </a:p>
        </p:txBody>
      </p:sp>
      <p:sp>
        <p:nvSpPr>
          <p:cNvPr id="19" name="Text 17"/>
          <p:cNvSpPr/>
          <p:nvPr/>
        </p:nvSpPr>
        <p:spPr>
          <a:xfrm>
            <a:off x="731520" y="2999232"/>
            <a:ext cx="2377440" cy="219456"/>
          </a:xfrm>
          <a:prstGeom prst="rect">
            <a:avLst/>
          </a:prstGeom>
          <a:noFill/>
          <a:ln/>
        </p:spPr>
        <p:txBody>
          <a:bodyPr wrap="square" lIns="0" tIns="0" rIns="0" bIns="0" rtlCol="0" anchor="ctr"/>
          <a:lstStyle/>
          <a:p>
            <a:pPr indent="0" marL="0">
              <a:buNone/>
            </a:pPr>
            <a:r>
              <a:rPr lang="en-US" sz="850" b="1" dirty="0">
                <a:solidFill>
                  <a:srgbClr val="F28C28"/>
                </a:solidFill>
              </a:rPr>
              <a:t>PARTICIÓN TEMPORAL</a:t>
            </a:r>
            <a:endParaRPr lang="en-US" sz="850" dirty="0"/>
          </a:p>
        </p:txBody>
      </p:sp>
      <p:sp>
        <p:nvSpPr>
          <p:cNvPr id="20" name="Text 18"/>
          <p:cNvSpPr/>
          <p:nvPr/>
        </p:nvSpPr>
        <p:spPr>
          <a:xfrm>
            <a:off x="777240" y="3346704"/>
            <a:ext cx="4892040" cy="1188720"/>
          </a:xfrm>
          <a:prstGeom prst="rect">
            <a:avLst/>
          </a:prstGeom>
          <a:noFill/>
          <a:ln/>
        </p:spPr>
        <p:txBody>
          <a:bodyPr wrap="square" lIns="508" tIns="508" rIns="508" bIns="508" rtlCol="0" anchor="t">
            <a:normAutofit/>
          </a:bodyPr>
          <a:lstStyle/>
          <a:p>
            <a:pPr indent="0" marL="0">
              <a:buNone/>
            </a:pPr>
            <a:r>
              <a:rPr lang="en-US" sz="1260" dirty="0">
                <a:solidFill>
                  <a:srgbClr val="263238"/>
                </a:solidFill>
              </a:rPr>
              <a:t>• Train: meses 1 a 8.</a:t>
            </a:r>
            <a:endParaRPr lang="en-US" sz="1260" dirty="0"/>
          </a:p>
          <a:p>
            <a:pPr indent="0" marL="0">
              <a:buNone/>
            </a:pPr>
            <a:r>
              <a:rPr lang="en-US" sz="1260" dirty="0">
                <a:solidFill>
                  <a:srgbClr val="263238"/>
                </a:solidFill>
              </a:rPr>
              <a:t>• Validation: meses 9 y 10.</a:t>
            </a:r>
            <a:endParaRPr lang="en-US" sz="1260" dirty="0"/>
          </a:p>
          <a:p>
            <a:pPr indent="0" marL="0">
              <a:buNone/>
            </a:pPr>
            <a:r>
              <a:rPr lang="en-US" sz="1260" dirty="0">
                <a:solidFill>
                  <a:srgbClr val="263238"/>
                </a:solidFill>
              </a:rPr>
              <a:t>• Test: meses 11 y 12.</a:t>
            </a:r>
            <a:endParaRPr lang="en-US" sz="1260" dirty="0"/>
          </a:p>
          <a:p>
            <a:pPr indent="0" marL="0">
              <a:buNone/>
            </a:pPr>
            <a:r>
              <a:rPr lang="en-US" sz="1260" dirty="0">
                <a:solidFill>
                  <a:srgbClr val="263238"/>
                </a:solidFill>
              </a:rPr>
              <a:t>• La lógica simula predicción futura y reduce fuga temporal.</a:t>
            </a:r>
            <a:endParaRPr lang="en-US" sz="1260" dirty="0"/>
          </a:p>
        </p:txBody>
      </p:sp>
      <p:sp>
        <p:nvSpPr>
          <p:cNvPr id="21" name="Text 19"/>
          <p:cNvSpPr/>
          <p:nvPr/>
        </p:nvSpPr>
        <p:spPr>
          <a:xfrm>
            <a:off x="6355080" y="2999232"/>
            <a:ext cx="2560320" cy="219456"/>
          </a:xfrm>
          <a:prstGeom prst="rect">
            <a:avLst/>
          </a:prstGeom>
          <a:noFill/>
          <a:ln/>
        </p:spPr>
        <p:txBody>
          <a:bodyPr wrap="square" lIns="0" tIns="0" rIns="0" bIns="0" rtlCol="0" anchor="ctr"/>
          <a:lstStyle/>
          <a:p>
            <a:pPr indent="0" marL="0">
              <a:buNone/>
            </a:pPr>
            <a:r>
              <a:rPr lang="en-US" sz="850" b="1" dirty="0">
                <a:solidFill>
                  <a:srgbClr val="F28C28"/>
                </a:solidFill>
              </a:rPr>
              <a:t>VARIABLES MODELADAS</a:t>
            </a:r>
            <a:endParaRPr lang="en-US" sz="850" dirty="0"/>
          </a:p>
        </p:txBody>
      </p:sp>
      <p:sp>
        <p:nvSpPr>
          <p:cNvPr id="22" name="Text 20"/>
          <p:cNvSpPr/>
          <p:nvPr/>
        </p:nvSpPr>
        <p:spPr>
          <a:xfrm>
            <a:off x="6400800" y="3346704"/>
            <a:ext cx="4892040" cy="1188720"/>
          </a:xfrm>
          <a:prstGeom prst="rect">
            <a:avLst/>
          </a:prstGeom>
          <a:noFill/>
          <a:ln/>
        </p:spPr>
        <p:txBody>
          <a:bodyPr wrap="square" lIns="508" tIns="508" rIns="508" bIns="508" rtlCol="0" anchor="t">
            <a:normAutofit/>
          </a:bodyPr>
          <a:lstStyle/>
          <a:p>
            <a:pPr indent="0" marL="0">
              <a:buNone/>
            </a:pPr>
            <a:r>
              <a:rPr lang="en-US" sz="1260" dirty="0">
                <a:solidFill>
                  <a:srgbClr val="263238"/>
                </a:solidFill>
              </a:rPr>
              <a:t>• Categóricas: segmento, canal, wording, beneficio y flujo.</a:t>
            </a:r>
            <a:endParaRPr lang="en-US" sz="1260" dirty="0"/>
          </a:p>
          <a:p>
            <a:pPr indent="0" marL="0">
              <a:buNone/>
            </a:pPr>
            <a:r>
              <a:rPr lang="en-US" sz="1260" dirty="0">
                <a:solidFill>
                  <a:srgbClr val="263238"/>
                </a:solidFill>
              </a:rPr>
              <a:t>• Numéricas: hora, antigüedad, plan, campañas previas y pasos.</a:t>
            </a:r>
            <a:endParaRPr lang="en-US" sz="1260" dirty="0"/>
          </a:p>
          <a:p>
            <a:pPr indent="0" marL="0">
              <a:buNone/>
            </a:pPr>
            <a:r>
              <a:rPr lang="en-US" sz="1260" dirty="0">
                <a:solidFill>
                  <a:srgbClr val="263238"/>
                </a:solidFill>
              </a:rPr>
              <a:t>• Transformaciones: one-hot encoding, imputación y escalamiento.</a:t>
            </a:r>
            <a:endParaRPr lang="en-US" sz="1260" dirty="0"/>
          </a:p>
        </p:txBody>
      </p:sp>
      <p:sp>
        <p:nvSpPr>
          <p:cNvPr id="23" name="Text 21"/>
          <p:cNvSpPr/>
          <p:nvPr/>
        </p:nvSpPr>
        <p:spPr>
          <a:xfrm>
            <a:off x="914400" y="5212080"/>
            <a:ext cx="10332720" cy="256032"/>
          </a:xfrm>
          <a:prstGeom prst="rect">
            <a:avLst/>
          </a:prstGeom>
          <a:noFill/>
          <a:ln/>
        </p:spPr>
        <p:txBody>
          <a:bodyPr wrap="square" lIns="0" tIns="0" rIns="0" bIns="0" rtlCol="0" anchor="ctr"/>
          <a:lstStyle/>
          <a:p>
            <a:pPr indent="0" marL="0">
              <a:buNone/>
            </a:pPr>
            <a:r>
              <a:rPr lang="en-US" sz="1150" b="1" dirty="0">
                <a:solidFill>
                  <a:srgbClr val="003A70"/>
                </a:solidFill>
              </a:rPr>
              <a:t>Repositorio</a:t>
            </a:r>
            <a:endParaRPr lang="en-US" sz="1150" dirty="0"/>
          </a:p>
        </p:txBody>
      </p:sp>
      <p:sp>
        <p:nvSpPr>
          <p:cNvPr id="24" name="Text 22"/>
          <p:cNvSpPr/>
          <p:nvPr/>
        </p:nvSpPr>
        <p:spPr>
          <a:xfrm>
            <a:off x="914400" y="5522976"/>
            <a:ext cx="10332720" cy="219456"/>
          </a:xfrm>
          <a:prstGeom prst="rect">
            <a:avLst/>
          </a:prstGeom>
          <a:solidFill>
            <a:srgbClr val="EAF2FA"/>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Incluye notebook Colab, scripts, dataset sintético, métricas, gráficos y README de ejecución.</a:t>
            </a:r>
            <a:endParaRPr lang="en-US" sz="11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Modelos de Machine Learning</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Baseline y alternativas</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08</a:t>
            </a:r>
            <a:endParaRPr lang="en-US" sz="820" dirty="0"/>
          </a:p>
        </p:txBody>
      </p:sp>
      <p:pic>
        <p:nvPicPr>
          <p:cNvPr id="8" name="Image 0" descr="/mnt/data/movistar_bayes_ml_proyecto/figures/model_metrics.png">    </p:cNvPr>
          <p:cNvPicPr>
            <a:picLocks noChangeAspect="1"/>
          </p:cNvPicPr>
          <p:nvPr/>
        </p:nvPicPr>
        <p:blipFill>
          <a:blip r:embed="rId1"/>
          <a:stretch>
            <a:fillRect/>
          </a:stretch>
        </p:blipFill>
        <p:spPr>
          <a:xfrm>
            <a:off x="658368" y="1474470"/>
            <a:ext cx="5440680" cy="2720340"/>
          </a:xfrm>
          <a:prstGeom prst="rect">
            <a:avLst/>
          </a:prstGeom>
        </p:spPr>
      </p:pic>
      <p:sp>
        <p:nvSpPr>
          <p:cNvPr id="9" name="Text 6"/>
          <p:cNvSpPr/>
          <p:nvPr/>
        </p:nvSpPr>
        <p:spPr>
          <a:xfrm>
            <a:off x="6446520" y="1188720"/>
            <a:ext cx="1481328" cy="475488"/>
          </a:xfrm>
          <a:prstGeom prst="rect">
            <a:avLst/>
          </a:prstGeom>
          <a:solidFill>
            <a:srgbClr val="003A70"/>
          </a:solidFill>
          <a:ln w="8890">
            <a:solidFill>
              <a:srgbClr val="D9E2EC"/>
            </a:solidFill>
          </a:ln>
        </p:spPr>
        <p:txBody>
          <a:bodyPr wrap="square" lIns="635" tIns="635" rIns="635" bIns="635" rtlCol="0" anchor="ctr">
            <a:normAutofit/>
          </a:bodyPr>
          <a:lstStyle/>
          <a:p>
            <a:pPr algn="l" indent="0" marL="0">
              <a:buNone/>
            </a:pPr>
            <a:r>
              <a:rPr lang="en-US" sz="930" b="1" dirty="0">
                <a:solidFill>
                  <a:srgbClr val="FFFFFF"/>
                </a:solidFill>
              </a:rPr>
              <a:t>Modelo</a:t>
            </a:r>
            <a:endParaRPr lang="en-US" sz="930" dirty="0"/>
          </a:p>
        </p:txBody>
      </p:sp>
      <p:sp>
        <p:nvSpPr>
          <p:cNvPr id="10" name="Text 7"/>
          <p:cNvSpPr/>
          <p:nvPr/>
        </p:nvSpPr>
        <p:spPr>
          <a:xfrm>
            <a:off x="7927848" y="1188720"/>
            <a:ext cx="2450592" cy="475488"/>
          </a:xfrm>
          <a:prstGeom prst="rect">
            <a:avLst/>
          </a:prstGeom>
          <a:solidFill>
            <a:srgbClr val="003A70"/>
          </a:solidFill>
          <a:ln w="8890">
            <a:solidFill>
              <a:srgbClr val="D9E2EC"/>
            </a:solidFill>
          </a:ln>
        </p:spPr>
        <p:txBody>
          <a:bodyPr wrap="square" lIns="635" tIns="635" rIns="635" bIns="635" rtlCol="0" anchor="ctr">
            <a:normAutofit/>
          </a:bodyPr>
          <a:lstStyle/>
          <a:p>
            <a:pPr algn="ctr" indent="0" marL="0">
              <a:buNone/>
            </a:pPr>
            <a:r>
              <a:rPr lang="en-US" sz="930" b="1" dirty="0">
                <a:solidFill>
                  <a:srgbClr val="FFFFFF"/>
                </a:solidFill>
              </a:rPr>
              <a:t>Lectura</a:t>
            </a:r>
            <a:endParaRPr lang="en-US" sz="930" dirty="0"/>
          </a:p>
        </p:txBody>
      </p:sp>
      <p:sp>
        <p:nvSpPr>
          <p:cNvPr id="11" name="Text 8"/>
          <p:cNvSpPr/>
          <p:nvPr/>
        </p:nvSpPr>
        <p:spPr>
          <a:xfrm>
            <a:off x="10378440" y="1188720"/>
            <a:ext cx="1051560" cy="475488"/>
          </a:xfrm>
          <a:prstGeom prst="rect">
            <a:avLst/>
          </a:prstGeom>
          <a:solidFill>
            <a:srgbClr val="003A70"/>
          </a:solidFill>
          <a:ln w="8890">
            <a:solidFill>
              <a:srgbClr val="D9E2EC"/>
            </a:solidFill>
          </a:ln>
        </p:spPr>
        <p:txBody>
          <a:bodyPr wrap="square" lIns="635" tIns="635" rIns="635" bIns="635" rtlCol="0" anchor="ctr">
            <a:normAutofit/>
          </a:bodyPr>
          <a:lstStyle/>
          <a:p>
            <a:pPr algn="ctr" indent="0" marL="0">
              <a:buNone/>
            </a:pPr>
            <a:r>
              <a:rPr lang="en-US" sz="930" b="1" dirty="0">
                <a:solidFill>
                  <a:srgbClr val="FFFFFF"/>
                </a:solidFill>
              </a:rPr>
              <a:t>Rol</a:t>
            </a:r>
            <a:endParaRPr lang="en-US" sz="930" dirty="0"/>
          </a:p>
        </p:txBody>
      </p:sp>
      <p:sp>
        <p:nvSpPr>
          <p:cNvPr id="12" name="Text 9"/>
          <p:cNvSpPr/>
          <p:nvPr/>
        </p:nvSpPr>
        <p:spPr>
          <a:xfrm>
            <a:off x="6446520" y="1664208"/>
            <a:ext cx="1481328" cy="475488"/>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Logistic Reg.</a:t>
            </a:r>
            <a:endParaRPr lang="en-US" sz="900" dirty="0"/>
          </a:p>
        </p:txBody>
      </p:sp>
      <p:sp>
        <p:nvSpPr>
          <p:cNvPr id="13" name="Text 10"/>
          <p:cNvSpPr/>
          <p:nvPr/>
        </p:nvSpPr>
        <p:spPr>
          <a:xfrm>
            <a:off x="7927848" y="1664208"/>
            <a:ext cx="2450592"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AUC 0.728 · F1 0.435</a:t>
            </a:r>
            <a:endParaRPr lang="en-US" sz="900" dirty="0"/>
          </a:p>
        </p:txBody>
      </p:sp>
      <p:sp>
        <p:nvSpPr>
          <p:cNvPr id="14" name="Text 11"/>
          <p:cNvSpPr/>
          <p:nvPr/>
        </p:nvSpPr>
        <p:spPr>
          <a:xfrm>
            <a:off x="10378440" y="1664208"/>
            <a:ext cx="1051560"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Baseline</a:t>
            </a:r>
            <a:endParaRPr lang="en-US" sz="900" dirty="0"/>
          </a:p>
        </p:txBody>
      </p:sp>
      <p:sp>
        <p:nvSpPr>
          <p:cNvPr id="15" name="Text 12"/>
          <p:cNvSpPr/>
          <p:nvPr/>
        </p:nvSpPr>
        <p:spPr>
          <a:xfrm>
            <a:off x="6446520" y="2139696"/>
            <a:ext cx="1481328" cy="475488"/>
          </a:xfrm>
          <a:prstGeom prst="rect">
            <a:avLst/>
          </a:prstGeom>
          <a:solidFill>
            <a:srgbClr val="F4F6F8"/>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Random Forest</a:t>
            </a:r>
            <a:endParaRPr lang="en-US" sz="900" dirty="0"/>
          </a:p>
        </p:txBody>
      </p:sp>
      <p:sp>
        <p:nvSpPr>
          <p:cNvPr id="16" name="Text 13"/>
          <p:cNvSpPr/>
          <p:nvPr/>
        </p:nvSpPr>
        <p:spPr>
          <a:xfrm>
            <a:off x="7927848" y="2139696"/>
            <a:ext cx="2450592" cy="475488"/>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AUC 0.735 · F1 0.450</a:t>
            </a:r>
            <a:endParaRPr lang="en-US" sz="900" dirty="0"/>
          </a:p>
        </p:txBody>
      </p:sp>
      <p:sp>
        <p:nvSpPr>
          <p:cNvPr id="17" name="Text 14"/>
          <p:cNvSpPr/>
          <p:nvPr/>
        </p:nvSpPr>
        <p:spPr>
          <a:xfrm>
            <a:off x="10378440" y="2139696"/>
            <a:ext cx="1051560" cy="475488"/>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Alternativa</a:t>
            </a:r>
            <a:endParaRPr lang="en-US" sz="900" dirty="0"/>
          </a:p>
        </p:txBody>
      </p:sp>
      <p:sp>
        <p:nvSpPr>
          <p:cNvPr id="18" name="Text 15"/>
          <p:cNvSpPr/>
          <p:nvPr/>
        </p:nvSpPr>
        <p:spPr>
          <a:xfrm>
            <a:off x="6446520" y="2615184"/>
            <a:ext cx="1481328" cy="475488"/>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XGBoost</a:t>
            </a:r>
            <a:endParaRPr lang="en-US" sz="900" dirty="0"/>
          </a:p>
        </p:txBody>
      </p:sp>
      <p:sp>
        <p:nvSpPr>
          <p:cNvPr id="19" name="Text 16"/>
          <p:cNvSpPr/>
          <p:nvPr/>
        </p:nvSpPr>
        <p:spPr>
          <a:xfrm>
            <a:off x="7927848" y="2615184"/>
            <a:ext cx="2450592"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AUC 0.735 · PR-AUC 0.371</a:t>
            </a:r>
            <a:endParaRPr lang="en-US" sz="900" dirty="0"/>
          </a:p>
        </p:txBody>
      </p:sp>
      <p:sp>
        <p:nvSpPr>
          <p:cNvPr id="20" name="Text 17"/>
          <p:cNvSpPr/>
          <p:nvPr/>
        </p:nvSpPr>
        <p:spPr>
          <a:xfrm>
            <a:off x="10378440" y="2615184"/>
            <a:ext cx="1051560"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Ganador</a:t>
            </a:r>
            <a:endParaRPr lang="en-US" sz="900" dirty="0"/>
          </a:p>
        </p:txBody>
      </p:sp>
      <p:sp>
        <p:nvSpPr>
          <p:cNvPr id="21" name="Text 18"/>
          <p:cNvSpPr/>
          <p:nvPr/>
        </p:nvSpPr>
        <p:spPr>
          <a:xfrm>
            <a:off x="6446520" y="3520440"/>
            <a:ext cx="2926080" cy="219456"/>
          </a:xfrm>
          <a:prstGeom prst="rect">
            <a:avLst/>
          </a:prstGeom>
          <a:noFill/>
          <a:ln/>
        </p:spPr>
        <p:txBody>
          <a:bodyPr wrap="square" lIns="0" tIns="0" rIns="0" bIns="0" rtlCol="0" anchor="ctr"/>
          <a:lstStyle/>
          <a:p>
            <a:pPr indent="0" marL="0">
              <a:buNone/>
            </a:pPr>
            <a:r>
              <a:rPr lang="en-US" sz="850" b="1" dirty="0">
                <a:solidFill>
                  <a:srgbClr val="F28C28"/>
                </a:solidFill>
              </a:rPr>
              <a:t>CRITERIO DE SELECCIÓN</a:t>
            </a:r>
            <a:endParaRPr lang="en-US" sz="850" dirty="0"/>
          </a:p>
        </p:txBody>
      </p:sp>
      <p:sp>
        <p:nvSpPr>
          <p:cNvPr id="22" name="Text 19"/>
          <p:cNvSpPr/>
          <p:nvPr/>
        </p:nvSpPr>
        <p:spPr>
          <a:xfrm>
            <a:off x="6492240" y="3886200"/>
            <a:ext cx="4617720" cy="1188720"/>
          </a:xfrm>
          <a:prstGeom prst="rect">
            <a:avLst/>
          </a:prstGeom>
          <a:noFill/>
          <a:ln/>
        </p:spPr>
        <p:txBody>
          <a:bodyPr wrap="square" lIns="508" tIns="508" rIns="508" bIns="508" rtlCol="0" anchor="t">
            <a:normAutofit/>
          </a:bodyPr>
          <a:lstStyle/>
          <a:p>
            <a:pPr indent="0" marL="0">
              <a:buNone/>
            </a:pPr>
            <a:r>
              <a:rPr lang="en-US" sz="1230" dirty="0">
                <a:solidFill>
                  <a:srgbClr val="263238"/>
                </a:solidFill>
              </a:rPr>
              <a:t>• XGBoost mantiene el mejor balance global.</a:t>
            </a:r>
            <a:endParaRPr lang="en-US" sz="1230" dirty="0"/>
          </a:p>
          <a:p>
            <a:pPr indent="0" marL="0">
              <a:buNone/>
            </a:pPr>
            <a:r>
              <a:rPr lang="en-US" sz="1230" dirty="0">
                <a:solidFill>
                  <a:srgbClr val="263238"/>
                </a:solidFill>
              </a:rPr>
              <a:t>• PR-AUC y Brier Score son relevantes por trabajar con probabilidades.</a:t>
            </a:r>
            <a:endParaRPr lang="en-US" sz="1230" dirty="0"/>
          </a:p>
          <a:p>
            <a:pPr indent="0" marL="0">
              <a:buNone/>
            </a:pPr>
            <a:r>
              <a:rPr lang="en-US" sz="1230" dirty="0">
                <a:solidFill>
                  <a:srgbClr val="263238"/>
                </a:solidFill>
              </a:rPr>
              <a:t>• El threshold se optimiza en validation, no se fija arbitrariamente en 0.50.</a:t>
            </a:r>
            <a:endParaRPr lang="en-US" sz="12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Evaluación del modelo ganador</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XGBoost en test set</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09</a:t>
            </a:r>
            <a:endParaRPr lang="en-US" sz="820" dirty="0"/>
          </a:p>
        </p:txBody>
      </p:sp>
      <p:sp>
        <p:nvSpPr>
          <p:cNvPr id="8" name="Text 6"/>
          <p:cNvSpPr/>
          <p:nvPr/>
        </p:nvSpPr>
        <p:spPr>
          <a:xfrm>
            <a:off x="713232" y="1060704"/>
            <a:ext cx="1645920" cy="329184"/>
          </a:xfrm>
          <a:prstGeom prst="rect">
            <a:avLst/>
          </a:prstGeom>
          <a:noFill/>
          <a:ln/>
        </p:spPr>
        <p:txBody>
          <a:bodyPr wrap="square" lIns="0" tIns="0" rIns="0" bIns="0" rtlCol="0" anchor="ctr"/>
          <a:lstStyle/>
          <a:p>
            <a:pPr algn="ctr" indent="0" marL="0">
              <a:buNone/>
            </a:pPr>
            <a:r>
              <a:rPr lang="en-US" sz="1800" b="1" dirty="0">
                <a:solidFill>
                  <a:srgbClr val="003A70"/>
                </a:solidFill>
              </a:rPr>
              <a:t>0.737</a:t>
            </a:r>
            <a:endParaRPr lang="en-US" sz="1800" dirty="0"/>
          </a:p>
        </p:txBody>
      </p:sp>
      <p:sp>
        <p:nvSpPr>
          <p:cNvPr id="9" name="Text 7"/>
          <p:cNvSpPr/>
          <p:nvPr/>
        </p:nvSpPr>
        <p:spPr>
          <a:xfrm>
            <a:off x="713232" y="1444752"/>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AUC</a:t>
            </a:r>
            <a:endParaRPr lang="en-US" sz="840" dirty="0"/>
          </a:p>
        </p:txBody>
      </p:sp>
      <p:sp>
        <p:nvSpPr>
          <p:cNvPr id="10" name="Shape 8"/>
          <p:cNvSpPr/>
          <p:nvPr/>
        </p:nvSpPr>
        <p:spPr>
          <a:xfrm>
            <a:off x="822960" y="1773936"/>
            <a:ext cx="1426464" cy="0"/>
          </a:xfrm>
          <a:prstGeom prst="line">
            <a:avLst/>
          </a:prstGeom>
          <a:noFill/>
          <a:ln w="12700">
            <a:solidFill>
              <a:srgbClr val="D9E2EC"/>
            </a:solidFill>
            <a:prstDash val="solid"/>
          </a:ln>
        </p:spPr>
      </p:sp>
      <p:sp>
        <p:nvSpPr>
          <p:cNvPr id="11" name="Text 9"/>
          <p:cNvSpPr/>
          <p:nvPr/>
        </p:nvSpPr>
        <p:spPr>
          <a:xfrm>
            <a:off x="2743200" y="1060704"/>
            <a:ext cx="1645920" cy="329184"/>
          </a:xfrm>
          <a:prstGeom prst="rect">
            <a:avLst/>
          </a:prstGeom>
          <a:noFill/>
          <a:ln/>
        </p:spPr>
        <p:txBody>
          <a:bodyPr wrap="square" lIns="0" tIns="0" rIns="0" bIns="0" rtlCol="0" anchor="ctr"/>
          <a:lstStyle/>
          <a:p>
            <a:pPr algn="ctr" indent="0" marL="0">
              <a:buNone/>
            </a:pPr>
            <a:r>
              <a:rPr lang="en-US" sz="1800" b="1" dirty="0">
                <a:solidFill>
                  <a:srgbClr val="258750"/>
                </a:solidFill>
              </a:rPr>
              <a:t>0.408</a:t>
            </a:r>
            <a:endParaRPr lang="en-US" sz="1800" dirty="0"/>
          </a:p>
        </p:txBody>
      </p:sp>
      <p:sp>
        <p:nvSpPr>
          <p:cNvPr id="12" name="Text 10"/>
          <p:cNvSpPr/>
          <p:nvPr/>
        </p:nvSpPr>
        <p:spPr>
          <a:xfrm>
            <a:off x="2743200" y="1444752"/>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PR-AUC</a:t>
            </a:r>
            <a:endParaRPr lang="en-US" sz="840" dirty="0"/>
          </a:p>
        </p:txBody>
      </p:sp>
      <p:sp>
        <p:nvSpPr>
          <p:cNvPr id="13" name="Shape 11"/>
          <p:cNvSpPr/>
          <p:nvPr/>
        </p:nvSpPr>
        <p:spPr>
          <a:xfrm>
            <a:off x="2852928" y="1773936"/>
            <a:ext cx="1426464" cy="0"/>
          </a:xfrm>
          <a:prstGeom prst="line">
            <a:avLst/>
          </a:prstGeom>
          <a:noFill/>
          <a:ln w="12700">
            <a:solidFill>
              <a:srgbClr val="D9E2EC"/>
            </a:solidFill>
            <a:prstDash val="solid"/>
          </a:ln>
        </p:spPr>
      </p:sp>
      <p:sp>
        <p:nvSpPr>
          <p:cNvPr id="14" name="Text 12"/>
          <p:cNvSpPr/>
          <p:nvPr/>
        </p:nvSpPr>
        <p:spPr>
          <a:xfrm>
            <a:off x="4773168" y="1060704"/>
            <a:ext cx="1645920" cy="329184"/>
          </a:xfrm>
          <a:prstGeom prst="rect">
            <a:avLst/>
          </a:prstGeom>
          <a:noFill/>
          <a:ln/>
        </p:spPr>
        <p:txBody>
          <a:bodyPr wrap="square" lIns="0" tIns="0" rIns="0" bIns="0" rtlCol="0" anchor="ctr"/>
          <a:lstStyle/>
          <a:p>
            <a:pPr algn="ctr" indent="0" marL="0">
              <a:buNone/>
            </a:pPr>
            <a:r>
              <a:rPr lang="en-US" sz="1800" b="1" dirty="0">
                <a:solidFill>
                  <a:srgbClr val="F28C28"/>
                </a:solidFill>
              </a:rPr>
              <a:t>0.718</a:t>
            </a:r>
            <a:endParaRPr lang="en-US" sz="1800" dirty="0"/>
          </a:p>
        </p:txBody>
      </p:sp>
      <p:sp>
        <p:nvSpPr>
          <p:cNvPr id="15" name="Text 13"/>
          <p:cNvSpPr/>
          <p:nvPr/>
        </p:nvSpPr>
        <p:spPr>
          <a:xfrm>
            <a:off x="4773168" y="1444752"/>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Recall</a:t>
            </a:r>
            <a:endParaRPr lang="en-US" sz="840" dirty="0"/>
          </a:p>
        </p:txBody>
      </p:sp>
      <p:sp>
        <p:nvSpPr>
          <p:cNvPr id="16" name="Shape 14"/>
          <p:cNvSpPr/>
          <p:nvPr/>
        </p:nvSpPr>
        <p:spPr>
          <a:xfrm>
            <a:off x="4882896" y="1773936"/>
            <a:ext cx="1426464" cy="0"/>
          </a:xfrm>
          <a:prstGeom prst="line">
            <a:avLst/>
          </a:prstGeom>
          <a:noFill/>
          <a:ln w="12700">
            <a:solidFill>
              <a:srgbClr val="D9E2EC"/>
            </a:solidFill>
            <a:prstDash val="solid"/>
          </a:ln>
        </p:spPr>
      </p:sp>
      <p:sp>
        <p:nvSpPr>
          <p:cNvPr id="17" name="Text 15"/>
          <p:cNvSpPr/>
          <p:nvPr/>
        </p:nvSpPr>
        <p:spPr>
          <a:xfrm>
            <a:off x="6803136" y="1060704"/>
            <a:ext cx="1645920" cy="329184"/>
          </a:xfrm>
          <a:prstGeom prst="rect">
            <a:avLst/>
          </a:prstGeom>
          <a:noFill/>
          <a:ln/>
        </p:spPr>
        <p:txBody>
          <a:bodyPr wrap="square" lIns="0" tIns="0" rIns="0" bIns="0" rtlCol="0" anchor="ctr"/>
          <a:lstStyle/>
          <a:p>
            <a:pPr algn="ctr" indent="0" marL="0">
              <a:buNone/>
            </a:pPr>
            <a:r>
              <a:rPr lang="en-US" sz="1800" b="1" dirty="0">
                <a:solidFill>
                  <a:srgbClr val="5D4AA6"/>
                </a:solidFill>
              </a:rPr>
              <a:t>0.471</a:t>
            </a:r>
            <a:endParaRPr lang="en-US" sz="1800" dirty="0"/>
          </a:p>
        </p:txBody>
      </p:sp>
      <p:sp>
        <p:nvSpPr>
          <p:cNvPr id="18" name="Text 16"/>
          <p:cNvSpPr/>
          <p:nvPr/>
        </p:nvSpPr>
        <p:spPr>
          <a:xfrm>
            <a:off x="6803136" y="1444752"/>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F1</a:t>
            </a:r>
            <a:endParaRPr lang="en-US" sz="840" dirty="0"/>
          </a:p>
        </p:txBody>
      </p:sp>
      <p:sp>
        <p:nvSpPr>
          <p:cNvPr id="19" name="Shape 17"/>
          <p:cNvSpPr/>
          <p:nvPr/>
        </p:nvSpPr>
        <p:spPr>
          <a:xfrm>
            <a:off x="6912864" y="1773936"/>
            <a:ext cx="1426464" cy="0"/>
          </a:xfrm>
          <a:prstGeom prst="line">
            <a:avLst/>
          </a:prstGeom>
          <a:noFill/>
          <a:ln w="12700">
            <a:solidFill>
              <a:srgbClr val="D9E2EC"/>
            </a:solidFill>
            <a:prstDash val="solid"/>
          </a:ln>
        </p:spPr>
      </p:sp>
      <p:sp>
        <p:nvSpPr>
          <p:cNvPr id="20" name="Text 18"/>
          <p:cNvSpPr/>
          <p:nvPr/>
        </p:nvSpPr>
        <p:spPr>
          <a:xfrm>
            <a:off x="8833104" y="1060704"/>
            <a:ext cx="1645920" cy="329184"/>
          </a:xfrm>
          <a:prstGeom prst="rect">
            <a:avLst/>
          </a:prstGeom>
          <a:noFill/>
          <a:ln/>
        </p:spPr>
        <p:txBody>
          <a:bodyPr wrap="square" lIns="0" tIns="0" rIns="0" bIns="0" rtlCol="0" anchor="ctr"/>
          <a:lstStyle/>
          <a:p>
            <a:pPr algn="ctr" indent="0" marL="0">
              <a:buNone/>
            </a:pPr>
            <a:r>
              <a:rPr lang="en-US" sz="1800" b="1" dirty="0">
                <a:solidFill>
                  <a:srgbClr val="003A70"/>
                </a:solidFill>
              </a:rPr>
              <a:t>0.149</a:t>
            </a:r>
            <a:endParaRPr lang="en-US" sz="1800" dirty="0"/>
          </a:p>
        </p:txBody>
      </p:sp>
      <p:sp>
        <p:nvSpPr>
          <p:cNvPr id="21" name="Text 19"/>
          <p:cNvSpPr/>
          <p:nvPr/>
        </p:nvSpPr>
        <p:spPr>
          <a:xfrm>
            <a:off x="8833104" y="1444752"/>
            <a:ext cx="1645920" cy="219456"/>
          </a:xfrm>
          <a:prstGeom prst="rect">
            <a:avLst/>
          </a:prstGeom>
          <a:noFill/>
          <a:ln/>
        </p:spPr>
        <p:txBody>
          <a:bodyPr wrap="square" lIns="0" tIns="0" rIns="0" bIns="0" rtlCol="0" anchor="ctr"/>
          <a:lstStyle/>
          <a:p>
            <a:pPr algn="ctr" indent="0" marL="0">
              <a:buNone/>
            </a:pPr>
            <a:r>
              <a:rPr lang="en-US" sz="840" dirty="0">
                <a:solidFill>
                  <a:srgbClr val="667085"/>
                </a:solidFill>
              </a:rPr>
              <a:t>Brier</a:t>
            </a:r>
            <a:endParaRPr lang="en-US" sz="840" dirty="0"/>
          </a:p>
        </p:txBody>
      </p:sp>
      <p:sp>
        <p:nvSpPr>
          <p:cNvPr id="22" name="Shape 20"/>
          <p:cNvSpPr/>
          <p:nvPr/>
        </p:nvSpPr>
        <p:spPr>
          <a:xfrm>
            <a:off x="8942832" y="1773936"/>
            <a:ext cx="1426464" cy="0"/>
          </a:xfrm>
          <a:prstGeom prst="line">
            <a:avLst/>
          </a:prstGeom>
          <a:noFill/>
          <a:ln w="12700">
            <a:solidFill>
              <a:srgbClr val="D9E2EC"/>
            </a:solidFill>
            <a:prstDash val="solid"/>
          </a:ln>
        </p:spPr>
      </p:sp>
      <p:sp>
        <p:nvSpPr>
          <p:cNvPr id="23" name="Text 21"/>
          <p:cNvSpPr/>
          <p:nvPr/>
        </p:nvSpPr>
        <p:spPr>
          <a:xfrm>
            <a:off x="822960" y="2788920"/>
            <a:ext cx="2743200" cy="219456"/>
          </a:xfrm>
          <a:prstGeom prst="rect">
            <a:avLst/>
          </a:prstGeom>
          <a:noFill/>
          <a:ln/>
        </p:spPr>
        <p:txBody>
          <a:bodyPr wrap="square" lIns="0" tIns="0" rIns="0" bIns="0" rtlCol="0" anchor="ctr"/>
          <a:lstStyle/>
          <a:p>
            <a:pPr indent="0" marL="0">
              <a:buNone/>
            </a:pPr>
            <a:r>
              <a:rPr lang="en-US" sz="850" b="1" dirty="0">
                <a:solidFill>
                  <a:srgbClr val="F28C28"/>
                </a:solidFill>
              </a:rPr>
              <a:t>MATRIZ DE CONFUSIÓN</a:t>
            </a:r>
            <a:endParaRPr lang="en-US" sz="850" dirty="0"/>
          </a:p>
        </p:txBody>
      </p:sp>
      <p:sp>
        <p:nvSpPr>
          <p:cNvPr id="24" name="Text 22"/>
          <p:cNvSpPr/>
          <p:nvPr/>
        </p:nvSpPr>
        <p:spPr>
          <a:xfrm>
            <a:off x="868680" y="3154680"/>
            <a:ext cx="1078992" cy="457200"/>
          </a:xfrm>
          <a:prstGeom prst="rect">
            <a:avLst/>
          </a:prstGeom>
          <a:solidFill>
            <a:srgbClr val="003A70"/>
          </a:solidFill>
          <a:ln w="8890">
            <a:solidFill>
              <a:srgbClr val="D9E2EC"/>
            </a:solidFill>
          </a:ln>
        </p:spPr>
        <p:txBody>
          <a:bodyPr wrap="square" lIns="635" tIns="635" rIns="635" bIns="635" rtlCol="0" anchor="ctr">
            <a:normAutofit/>
          </a:bodyPr>
          <a:lstStyle/>
          <a:p>
            <a:pPr algn="l" indent="0" marL="0">
              <a:buNone/>
            </a:pPr>
            <a:endParaRPr lang="en-US" sz="930" dirty="0"/>
          </a:p>
        </p:txBody>
      </p:sp>
      <p:sp>
        <p:nvSpPr>
          <p:cNvPr id="25" name="Text 23"/>
          <p:cNvSpPr/>
          <p:nvPr/>
        </p:nvSpPr>
        <p:spPr>
          <a:xfrm>
            <a:off x="1947672" y="3154680"/>
            <a:ext cx="1115568" cy="457200"/>
          </a:xfrm>
          <a:prstGeom prst="rect">
            <a:avLst/>
          </a:prstGeom>
          <a:solidFill>
            <a:srgbClr val="003A70"/>
          </a:solidFill>
          <a:ln w="8890">
            <a:solidFill>
              <a:srgbClr val="D9E2EC"/>
            </a:solidFill>
          </a:ln>
        </p:spPr>
        <p:txBody>
          <a:bodyPr wrap="square" lIns="635" tIns="635" rIns="635" bIns="635" rtlCol="0" anchor="ctr">
            <a:normAutofit/>
          </a:bodyPr>
          <a:lstStyle/>
          <a:p>
            <a:pPr algn="ctr" indent="0" marL="0">
              <a:buNone/>
            </a:pPr>
            <a:r>
              <a:rPr lang="en-US" sz="930" b="1" dirty="0">
                <a:solidFill>
                  <a:srgbClr val="FFFFFF"/>
                </a:solidFill>
              </a:rPr>
              <a:t>Pred 0</a:t>
            </a:r>
            <a:endParaRPr lang="en-US" sz="930" dirty="0"/>
          </a:p>
        </p:txBody>
      </p:sp>
      <p:sp>
        <p:nvSpPr>
          <p:cNvPr id="26" name="Text 24"/>
          <p:cNvSpPr/>
          <p:nvPr/>
        </p:nvSpPr>
        <p:spPr>
          <a:xfrm>
            <a:off x="3063240" y="3154680"/>
            <a:ext cx="1115568" cy="457200"/>
          </a:xfrm>
          <a:prstGeom prst="rect">
            <a:avLst/>
          </a:prstGeom>
          <a:solidFill>
            <a:srgbClr val="003A70"/>
          </a:solidFill>
          <a:ln w="8890">
            <a:solidFill>
              <a:srgbClr val="D9E2EC"/>
            </a:solidFill>
          </a:ln>
        </p:spPr>
        <p:txBody>
          <a:bodyPr wrap="square" lIns="635" tIns="635" rIns="635" bIns="635" rtlCol="0" anchor="ctr">
            <a:normAutofit/>
          </a:bodyPr>
          <a:lstStyle/>
          <a:p>
            <a:pPr algn="ctr" indent="0" marL="0">
              <a:buNone/>
            </a:pPr>
            <a:r>
              <a:rPr lang="en-US" sz="930" b="1" dirty="0">
                <a:solidFill>
                  <a:srgbClr val="FFFFFF"/>
                </a:solidFill>
              </a:rPr>
              <a:t>Pred 1</a:t>
            </a:r>
            <a:endParaRPr lang="en-US" sz="930" dirty="0"/>
          </a:p>
        </p:txBody>
      </p:sp>
      <p:sp>
        <p:nvSpPr>
          <p:cNvPr id="27" name="Text 25"/>
          <p:cNvSpPr/>
          <p:nvPr/>
        </p:nvSpPr>
        <p:spPr>
          <a:xfrm>
            <a:off x="868680" y="3611880"/>
            <a:ext cx="1078992" cy="457200"/>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Real 0</a:t>
            </a:r>
            <a:endParaRPr lang="en-US" sz="900" dirty="0"/>
          </a:p>
        </p:txBody>
      </p:sp>
      <p:sp>
        <p:nvSpPr>
          <p:cNvPr id="28" name="Text 26"/>
          <p:cNvSpPr/>
          <p:nvPr/>
        </p:nvSpPr>
        <p:spPr>
          <a:xfrm>
            <a:off x="1947672" y="3611880"/>
            <a:ext cx="1115568" cy="457200"/>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4542</a:t>
            </a:r>
            <a:endParaRPr lang="en-US" sz="900" dirty="0"/>
          </a:p>
        </p:txBody>
      </p:sp>
      <p:sp>
        <p:nvSpPr>
          <p:cNvPr id="29" name="Text 27"/>
          <p:cNvSpPr/>
          <p:nvPr/>
        </p:nvSpPr>
        <p:spPr>
          <a:xfrm>
            <a:off x="3063240" y="3611880"/>
            <a:ext cx="1115568" cy="457200"/>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1972</a:t>
            </a:r>
            <a:endParaRPr lang="en-US" sz="900" dirty="0"/>
          </a:p>
        </p:txBody>
      </p:sp>
      <p:sp>
        <p:nvSpPr>
          <p:cNvPr id="30" name="Text 28"/>
          <p:cNvSpPr/>
          <p:nvPr/>
        </p:nvSpPr>
        <p:spPr>
          <a:xfrm>
            <a:off x="868680" y="4069080"/>
            <a:ext cx="1078992" cy="457200"/>
          </a:xfrm>
          <a:prstGeom prst="rect">
            <a:avLst/>
          </a:prstGeom>
          <a:solidFill>
            <a:srgbClr val="F4F6F8"/>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Real 1</a:t>
            </a:r>
            <a:endParaRPr lang="en-US" sz="900" dirty="0"/>
          </a:p>
        </p:txBody>
      </p:sp>
      <p:sp>
        <p:nvSpPr>
          <p:cNvPr id="31" name="Text 29"/>
          <p:cNvSpPr/>
          <p:nvPr/>
        </p:nvSpPr>
        <p:spPr>
          <a:xfrm>
            <a:off x="1947672" y="4069080"/>
            <a:ext cx="1115568" cy="457200"/>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646</a:t>
            </a:r>
            <a:endParaRPr lang="en-US" sz="900" dirty="0"/>
          </a:p>
        </p:txBody>
      </p:sp>
      <p:sp>
        <p:nvSpPr>
          <p:cNvPr id="32" name="Text 30"/>
          <p:cNvSpPr/>
          <p:nvPr/>
        </p:nvSpPr>
        <p:spPr>
          <a:xfrm>
            <a:off x="3063240" y="4069080"/>
            <a:ext cx="1115568" cy="457200"/>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1139</a:t>
            </a:r>
            <a:endParaRPr lang="en-US" sz="900" dirty="0"/>
          </a:p>
        </p:txBody>
      </p:sp>
      <p:sp>
        <p:nvSpPr>
          <p:cNvPr id="33" name="Text 31"/>
          <p:cNvSpPr/>
          <p:nvPr/>
        </p:nvSpPr>
        <p:spPr>
          <a:xfrm>
            <a:off x="4937760" y="2788920"/>
            <a:ext cx="2834640" cy="219456"/>
          </a:xfrm>
          <a:prstGeom prst="rect">
            <a:avLst/>
          </a:prstGeom>
          <a:noFill/>
          <a:ln/>
        </p:spPr>
        <p:txBody>
          <a:bodyPr wrap="square" lIns="0" tIns="0" rIns="0" bIns="0" rtlCol="0" anchor="ctr"/>
          <a:lstStyle/>
          <a:p>
            <a:pPr indent="0" marL="0">
              <a:buNone/>
            </a:pPr>
            <a:r>
              <a:rPr lang="en-US" sz="850" b="1" dirty="0">
                <a:solidFill>
                  <a:srgbClr val="F28C28"/>
                </a:solidFill>
              </a:rPr>
              <a:t>LECTURA EJECUTIVA</a:t>
            </a:r>
            <a:endParaRPr lang="en-US" sz="850" dirty="0"/>
          </a:p>
        </p:txBody>
      </p:sp>
      <p:sp>
        <p:nvSpPr>
          <p:cNvPr id="34" name="Text 32"/>
          <p:cNvSpPr/>
          <p:nvPr/>
        </p:nvSpPr>
        <p:spPr>
          <a:xfrm>
            <a:off x="4983480" y="3154680"/>
            <a:ext cx="5943600" cy="1188720"/>
          </a:xfrm>
          <a:prstGeom prst="rect">
            <a:avLst/>
          </a:prstGeom>
          <a:noFill/>
          <a:ln/>
        </p:spPr>
        <p:txBody>
          <a:bodyPr wrap="square" lIns="508" tIns="508" rIns="508" bIns="508" rtlCol="0" anchor="t">
            <a:normAutofit/>
          </a:bodyPr>
          <a:lstStyle/>
          <a:p>
            <a:pPr indent="0" marL="0">
              <a:buNone/>
            </a:pPr>
            <a:r>
              <a:rPr lang="en-US" sz="1270" dirty="0">
                <a:solidFill>
                  <a:srgbClr val="263238"/>
                </a:solidFill>
              </a:rPr>
              <a:t>• El modelo prioriza candidatos, no reemplaza el experimento real.</a:t>
            </a:r>
            <a:endParaRPr lang="en-US" sz="1270" dirty="0"/>
          </a:p>
          <a:p>
            <a:pPr indent="0" marL="0">
              <a:buNone/>
            </a:pPr>
            <a:r>
              <a:rPr lang="en-US" sz="1270" dirty="0">
                <a:solidFill>
                  <a:srgbClr val="263238"/>
                </a:solidFill>
              </a:rPr>
              <a:t>• Se favorece recall para no perder campañas con potencial.</a:t>
            </a:r>
            <a:endParaRPr lang="en-US" sz="1270" dirty="0"/>
          </a:p>
          <a:p>
            <a:pPr indent="0" marL="0">
              <a:buNone/>
            </a:pPr>
            <a:r>
              <a:rPr lang="en-US" sz="1270" dirty="0">
                <a:solidFill>
                  <a:srgbClr val="263238"/>
                </a:solidFill>
              </a:rPr>
              <a:t>• La calibración permite ordenar configuraciones por probabilidad esperada.</a:t>
            </a:r>
            <a:endParaRPr lang="en-US" sz="1270" dirty="0"/>
          </a:p>
        </p:txBody>
      </p:sp>
      <p:sp>
        <p:nvSpPr>
          <p:cNvPr id="35" name="Text 33"/>
          <p:cNvSpPr/>
          <p:nvPr/>
        </p:nvSpPr>
        <p:spPr>
          <a:xfrm>
            <a:off x="868680" y="5102352"/>
            <a:ext cx="10058400" cy="256032"/>
          </a:xfrm>
          <a:prstGeom prst="rect">
            <a:avLst/>
          </a:prstGeom>
          <a:noFill/>
          <a:ln/>
        </p:spPr>
        <p:txBody>
          <a:bodyPr wrap="square" lIns="0" tIns="0" rIns="0" bIns="0" rtlCol="0" anchor="ctr"/>
          <a:lstStyle/>
          <a:p>
            <a:pPr indent="0" marL="0">
              <a:buNone/>
            </a:pPr>
            <a:r>
              <a:rPr lang="en-US" sz="1150" b="1" dirty="0">
                <a:solidFill>
                  <a:srgbClr val="F28C28"/>
                </a:solidFill>
              </a:rPr>
              <a:t>Costo del error</a:t>
            </a:r>
            <a:endParaRPr lang="en-US" sz="1150" dirty="0"/>
          </a:p>
        </p:txBody>
      </p:sp>
      <p:sp>
        <p:nvSpPr>
          <p:cNvPr id="36" name="Text 34"/>
          <p:cNvSpPr/>
          <p:nvPr/>
        </p:nvSpPr>
        <p:spPr>
          <a:xfrm>
            <a:off x="868680" y="5413248"/>
            <a:ext cx="10058400" cy="237744"/>
          </a:xfrm>
          <a:prstGeom prst="rect">
            <a:avLst/>
          </a:prstGeom>
          <a:solidFill>
            <a:srgbClr val="FFF4E8"/>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Un falso negativo puede descartar una buena campaña; un falso positivo genera una prueba adicional de bajo retorno.</a:t>
            </a:r>
            <a:endParaRPr lang="en-US" sz="11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Interpretabilidad y control de sesgos</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Variables que explican la decisión</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10</a:t>
            </a:r>
            <a:endParaRPr lang="en-US" sz="820" dirty="0"/>
          </a:p>
        </p:txBody>
      </p:sp>
      <p:pic>
        <p:nvPicPr>
          <p:cNvPr id="8" name="Image 0" descr="/mnt/data/movistar_bayes_ml_proyecto/figures/feature_importance.png">    </p:cNvPr>
          <p:cNvPicPr>
            <a:picLocks noChangeAspect="1"/>
          </p:cNvPicPr>
          <p:nvPr/>
        </p:nvPicPr>
        <p:blipFill>
          <a:blip r:embed="rId1"/>
          <a:stretch>
            <a:fillRect/>
          </a:stretch>
        </p:blipFill>
        <p:spPr>
          <a:xfrm>
            <a:off x="658368" y="1543050"/>
            <a:ext cx="5440680" cy="2720340"/>
          </a:xfrm>
          <a:prstGeom prst="rect">
            <a:avLst/>
          </a:prstGeom>
        </p:spPr>
      </p:pic>
      <p:sp>
        <p:nvSpPr>
          <p:cNvPr id="9" name="Text 6"/>
          <p:cNvSpPr/>
          <p:nvPr/>
        </p:nvSpPr>
        <p:spPr>
          <a:xfrm>
            <a:off x="6492240" y="1115568"/>
            <a:ext cx="2743200" cy="219456"/>
          </a:xfrm>
          <a:prstGeom prst="rect">
            <a:avLst/>
          </a:prstGeom>
          <a:noFill/>
          <a:ln/>
        </p:spPr>
        <p:txBody>
          <a:bodyPr wrap="square" lIns="0" tIns="0" rIns="0" bIns="0" rtlCol="0" anchor="ctr"/>
          <a:lstStyle/>
          <a:p>
            <a:pPr indent="0" marL="0">
              <a:buNone/>
            </a:pPr>
            <a:r>
              <a:rPr lang="en-US" sz="850" b="1" dirty="0">
                <a:solidFill>
                  <a:srgbClr val="F28C28"/>
                </a:solidFill>
              </a:rPr>
              <a:t>VARIABLES ACCIONABLES</a:t>
            </a:r>
            <a:endParaRPr lang="en-US" sz="850" dirty="0"/>
          </a:p>
        </p:txBody>
      </p:sp>
      <p:sp>
        <p:nvSpPr>
          <p:cNvPr id="10" name="Text 7"/>
          <p:cNvSpPr/>
          <p:nvPr/>
        </p:nvSpPr>
        <p:spPr>
          <a:xfrm>
            <a:off x="6537960" y="1463040"/>
            <a:ext cx="4480560" cy="1371600"/>
          </a:xfrm>
          <a:prstGeom prst="rect">
            <a:avLst/>
          </a:prstGeom>
          <a:noFill/>
          <a:ln/>
        </p:spPr>
        <p:txBody>
          <a:bodyPr wrap="square" lIns="508" tIns="508" rIns="508" bIns="508" rtlCol="0" anchor="t">
            <a:normAutofit/>
          </a:bodyPr>
          <a:lstStyle/>
          <a:p>
            <a:pPr indent="0" marL="0">
              <a:buNone/>
            </a:pPr>
            <a:r>
              <a:rPr lang="en-US" sz="1270" dirty="0">
                <a:solidFill>
                  <a:srgbClr val="263238"/>
                </a:solidFill>
              </a:rPr>
              <a:t>• Beneficio ofrecido.</a:t>
            </a:r>
            <a:endParaRPr lang="en-US" sz="1270" dirty="0"/>
          </a:p>
          <a:p>
            <a:pPr indent="0" marL="0">
              <a:buNone/>
            </a:pPr>
            <a:r>
              <a:rPr lang="en-US" sz="1270" dirty="0">
                <a:solidFill>
                  <a:srgbClr val="263238"/>
                </a:solidFill>
              </a:rPr>
              <a:t>• Segmento del cliente.</a:t>
            </a:r>
            <a:endParaRPr lang="en-US" sz="1270" dirty="0"/>
          </a:p>
          <a:p>
            <a:pPr indent="0" marL="0">
              <a:buNone/>
            </a:pPr>
            <a:r>
              <a:rPr lang="en-US" sz="1270" dirty="0">
                <a:solidFill>
                  <a:srgbClr val="263238"/>
                </a:solidFill>
              </a:rPr>
              <a:t>• Hora de envío.</a:t>
            </a:r>
            <a:endParaRPr lang="en-US" sz="1270" dirty="0"/>
          </a:p>
          <a:p>
            <a:pPr indent="0" marL="0">
              <a:buNone/>
            </a:pPr>
            <a:r>
              <a:rPr lang="en-US" sz="1270" dirty="0">
                <a:solidFill>
                  <a:srgbClr val="263238"/>
                </a:solidFill>
              </a:rPr>
              <a:t>• Tipo de flujo del chatbot.</a:t>
            </a:r>
            <a:endParaRPr lang="en-US" sz="1270" dirty="0"/>
          </a:p>
          <a:p>
            <a:pPr indent="0" marL="0">
              <a:buNone/>
            </a:pPr>
            <a:r>
              <a:rPr lang="en-US" sz="1270" dirty="0">
                <a:solidFill>
                  <a:srgbClr val="263238"/>
                </a:solidFill>
              </a:rPr>
              <a:t>• Fatiga por campañas recientes.</a:t>
            </a:r>
            <a:endParaRPr lang="en-US" sz="1270" dirty="0"/>
          </a:p>
        </p:txBody>
      </p:sp>
      <p:sp>
        <p:nvSpPr>
          <p:cNvPr id="11" name="Text 8"/>
          <p:cNvSpPr/>
          <p:nvPr/>
        </p:nvSpPr>
        <p:spPr>
          <a:xfrm>
            <a:off x="6492240" y="3429000"/>
            <a:ext cx="2743200" cy="219456"/>
          </a:xfrm>
          <a:prstGeom prst="rect">
            <a:avLst/>
          </a:prstGeom>
          <a:noFill/>
          <a:ln/>
        </p:spPr>
        <p:txBody>
          <a:bodyPr wrap="square" lIns="0" tIns="0" rIns="0" bIns="0" rtlCol="0" anchor="ctr"/>
          <a:lstStyle/>
          <a:p>
            <a:pPr indent="0" marL="0">
              <a:buNone/>
            </a:pPr>
            <a:r>
              <a:rPr lang="en-US" sz="850" b="1" dirty="0">
                <a:solidFill>
                  <a:srgbClr val="F28C28"/>
                </a:solidFill>
              </a:rPr>
              <a:t>CONTROLES</a:t>
            </a:r>
            <a:endParaRPr lang="en-US" sz="850" dirty="0"/>
          </a:p>
        </p:txBody>
      </p:sp>
      <p:sp>
        <p:nvSpPr>
          <p:cNvPr id="12" name="Text 9"/>
          <p:cNvSpPr/>
          <p:nvPr/>
        </p:nvSpPr>
        <p:spPr>
          <a:xfrm>
            <a:off x="6537960" y="3776472"/>
            <a:ext cx="4480560" cy="1234440"/>
          </a:xfrm>
          <a:prstGeom prst="rect">
            <a:avLst/>
          </a:prstGeom>
          <a:noFill/>
          <a:ln/>
        </p:spPr>
        <p:txBody>
          <a:bodyPr wrap="square" lIns="508" tIns="508" rIns="508" bIns="508" rtlCol="0" anchor="t">
            <a:normAutofit/>
          </a:bodyPr>
          <a:lstStyle/>
          <a:p>
            <a:pPr indent="0" marL="0">
              <a:buNone/>
            </a:pPr>
            <a:r>
              <a:rPr lang="en-US" sz="1270" dirty="0">
                <a:solidFill>
                  <a:srgbClr val="263238"/>
                </a:solidFill>
              </a:rPr>
              <a:t>• Monitorear resultados por segmento.</a:t>
            </a:r>
            <a:endParaRPr lang="en-US" sz="1270" dirty="0"/>
          </a:p>
          <a:p>
            <a:pPr indent="0" marL="0">
              <a:buNone/>
            </a:pPr>
            <a:r>
              <a:rPr lang="en-US" sz="1270" dirty="0">
                <a:solidFill>
                  <a:srgbClr val="263238"/>
                </a:solidFill>
              </a:rPr>
              <a:t>• Revisar drift mensual.</a:t>
            </a:r>
            <a:endParaRPr lang="en-US" sz="1270" dirty="0"/>
          </a:p>
          <a:p>
            <a:pPr indent="0" marL="0">
              <a:buNone/>
            </a:pPr>
            <a:r>
              <a:rPr lang="en-US" sz="1270" dirty="0">
                <a:solidFill>
                  <a:srgbClr val="263238"/>
                </a:solidFill>
              </a:rPr>
              <a:t>• Validar decisiones con A/B testing.</a:t>
            </a:r>
            <a:endParaRPr lang="en-US" sz="1270" dirty="0"/>
          </a:p>
          <a:p>
            <a:pPr indent="0" marL="0">
              <a:buNone/>
            </a:pPr>
            <a:r>
              <a:rPr lang="en-US" sz="1270" dirty="0">
                <a:solidFill>
                  <a:srgbClr val="263238"/>
                </a:solidFill>
              </a:rPr>
              <a:t>• Respetar privacidad y frecuencia de contacto.</a:t>
            </a:r>
            <a:endParaRPr lang="en-US" sz="12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Optimización Bayesiana</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Capa prescriptiva</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11</a:t>
            </a:r>
            <a:endParaRPr lang="en-US" sz="820" dirty="0"/>
          </a:p>
        </p:txBody>
      </p:sp>
      <p:sp>
        <p:nvSpPr>
          <p:cNvPr id="8" name="Text 6"/>
          <p:cNvSpPr/>
          <p:nvPr/>
        </p:nvSpPr>
        <p:spPr>
          <a:xfrm>
            <a:off x="685800" y="1051560"/>
            <a:ext cx="7315200" cy="658368"/>
          </a:xfrm>
          <a:prstGeom prst="rect">
            <a:avLst/>
          </a:prstGeom>
          <a:noFill/>
          <a:ln/>
        </p:spPr>
        <p:txBody>
          <a:bodyPr wrap="square" lIns="381" tIns="381" rIns="381" bIns="381" rtlCol="0" anchor="ctr">
            <a:normAutofit/>
          </a:bodyPr>
          <a:lstStyle/>
          <a:p>
            <a:pPr indent="0" marL="0">
              <a:buNone/>
            </a:pPr>
            <a:r>
              <a:rPr lang="en-US" sz="2200" b="1" dirty="0">
                <a:solidFill>
                  <a:srgbClr val="00264D"/>
                </a:solidFill>
              </a:rPr>
              <a:t>La predicción responde “qué podría pasar”; BO responde “qué conviene probar ahora”.</a:t>
            </a:r>
            <a:endParaRPr lang="en-US" sz="2200" dirty="0"/>
          </a:p>
        </p:txBody>
      </p:sp>
      <p:sp>
        <p:nvSpPr>
          <p:cNvPr id="9" name="Shape 7"/>
          <p:cNvSpPr/>
          <p:nvPr/>
        </p:nvSpPr>
        <p:spPr>
          <a:xfrm>
            <a:off x="685800" y="1819656"/>
            <a:ext cx="7315200" cy="0"/>
          </a:xfrm>
          <a:prstGeom prst="line">
            <a:avLst/>
          </a:prstGeom>
          <a:noFill/>
          <a:ln w="30480">
            <a:solidFill>
              <a:srgbClr val="F28C28"/>
            </a:solidFill>
            <a:prstDash val="solid"/>
          </a:ln>
        </p:spPr>
      </p:sp>
      <p:sp>
        <p:nvSpPr>
          <p:cNvPr id="10" name="Shape 8"/>
          <p:cNvSpPr/>
          <p:nvPr/>
        </p:nvSpPr>
        <p:spPr>
          <a:xfrm>
            <a:off x="2011680" y="2788920"/>
            <a:ext cx="704088" cy="0"/>
          </a:xfrm>
          <a:prstGeom prst="line">
            <a:avLst/>
          </a:prstGeom>
          <a:noFill/>
          <a:ln w="20320">
            <a:solidFill>
              <a:srgbClr val="667085"/>
            </a:solidFill>
            <a:prstDash val="solid"/>
            <a:tailEnd type="triangle"/>
          </a:ln>
        </p:spPr>
      </p:sp>
      <p:sp>
        <p:nvSpPr>
          <p:cNvPr id="11" name="Shape 9"/>
          <p:cNvSpPr/>
          <p:nvPr/>
        </p:nvSpPr>
        <p:spPr>
          <a:xfrm>
            <a:off x="4114800" y="2788920"/>
            <a:ext cx="704088" cy="0"/>
          </a:xfrm>
          <a:prstGeom prst="line">
            <a:avLst/>
          </a:prstGeom>
          <a:noFill/>
          <a:ln w="20320">
            <a:solidFill>
              <a:srgbClr val="667085"/>
            </a:solidFill>
            <a:prstDash val="solid"/>
            <a:tailEnd type="triangle"/>
          </a:ln>
        </p:spPr>
      </p:sp>
      <p:sp>
        <p:nvSpPr>
          <p:cNvPr id="12" name="Shape 10"/>
          <p:cNvSpPr/>
          <p:nvPr/>
        </p:nvSpPr>
        <p:spPr>
          <a:xfrm>
            <a:off x="6217920" y="2788920"/>
            <a:ext cx="704088" cy="0"/>
          </a:xfrm>
          <a:prstGeom prst="line">
            <a:avLst/>
          </a:prstGeom>
          <a:noFill/>
          <a:ln w="20320">
            <a:solidFill>
              <a:srgbClr val="667085"/>
            </a:solidFill>
            <a:prstDash val="solid"/>
            <a:tailEnd type="triangle"/>
          </a:ln>
        </p:spPr>
      </p:sp>
      <p:sp>
        <p:nvSpPr>
          <p:cNvPr id="13" name="Shape 11"/>
          <p:cNvSpPr/>
          <p:nvPr/>
        </p:nvSpPr>
        <p:spPr>
          <a:xfrm>
            <a:off x="8321040" y="2788920"/>
            <a:ext cx="704088" cy="0"/>
          </a:xfrm>
          <a:prstGeom prst="line">
            <a:avLst/>
          </a:prstGeom>
          <a:noFill/>
          <a:ln w="20320">
            <a:solidFill>
              <a:srgbClr val="667085"/>
            </a:solidFill>
            <a:prstDash val="solid"/>
            <a:tailEnd type="triangle"/>
          </a:ln>
        </p:spPr>
      </p:sp>
      <p:sp>
        <p:nvSpPr>
          <p:cNvPr id="14" name="Text 12"/>
          <p:cNvSpPr/>
          <p:nvPr/>
        </p:nvSpPr>
        <p:spPr>
          <a:xfrm>
            <a:off x="777240" y="2395728"/>
            <a:ext cx="1325880" cy="713232"/>
          </a:xfrm>
          <a:prstGeom prst="rect">
            <a:avLst/>
          </a:prstGeom>
          <a:solidFill>
            <a:srgbClr val="003A70"/>
          </a:solidFill>
          <a:ln>
            <a:solidFill>
              <a:srgbClr val="003A70"/>
            </a:solidFill>
          </a:ln>
        </p:spPr>
        <p:txBody>
          <a:bodyPr wrap="square" lIns="508" tIns="508" rIns="508" bIns="508" rtlCol="0" anchor="ctr">
            <a:normAutofit/>
          </a:bodyPr>
          <a:lstStyle/>
          <a:p>
            <a:pPr algn="ctr" indent="0" marL="0">
              <a:buNone/>
            </a:pPr>
            <a:r>
              <a:rPr lang="en-US" sz="1150" b="1" dirty="0">
                <a:solidFill>
                  <a:srgbClr val="FFFFFF"/>
                </a:solidFill>
              </a:rPr>
              <a:t>Pruebas</a:t>
            </a:r>
            <a:endParaRPr lang="en-US" sz="1150" dirty="0"/>
          </a:p>
          <a:p>
            <a:pPr algn="ctr" indent="0" marL="0">
              <a:buNone/>
            </a:pPr>
            <a:r>
              <a:rPr lang="en-US" sz="1150" b="1" dirty="0">
                <a:solidFill>
                  <a:srgbClr val="FFFFFF"/>
                </a:solidFill>
              </a:rPr>
              <a:t>iniciales</a:t>
            </a:r>
            <a:endParaRPr lang="en-US" sz="1150" dirty="0"/>
          </a:p>
        </p:txBody>
      </p:sp>
      <p:sp>
        <p:nvSpPr>
          <p:cNvPr id="15" name="Text 13"/>
          <p:cNvSpPr/>
          <p:nvPr/>
        </p:nvSpPr>
        <p:spPr>
          <a:xfrm>
            <a:off x="2880360" y="2395728"/>
            <a:ext cx="1325880" cy="713232"/>
          </a:xfrm>
          <a:prstGeom prst="rect">
            <a:avLst/>
          </a:prstGeom>
          <a:solidFill>
            <a:srgbClr val="258750"/>
          </a:solidFill>
          <a:ln>
            <a:solidFill>
              <a:srgbClr val="258750"/>
            </a:solidFill>
          </a:ln>
        </p:spPr>
        <p:txBody>
          <a:bodyPr wrap="square" lIns="508" tIns="508" rIns="508" bIns="508" rtlCol="0" anchor="ctr">
            <a:normAutofit/>
          </a:bodyPr>
          <a:lstStyle/>
          <a:p>
            <a:pPr algn="ctr" indent="0" marL="0">
              <a:buNone/>
            </a:pPr>
            <a:r>
              <a:rPr lang="en-US" sz="1150" b="1" dirty="0">
                <a:solidFill>
                  <a:srgbClr val="FFFFFF"/>
                </a:solidFill>
              </a:rPr>
              <a:t>Proceso</a:t>
            </a:r>
            <a:endParaRPr lang="en-US" sz="1150" dirty="0"/>
          </a:p>
          <a:p>
            <a:pPr algn="ctr" indent="0" marL="0">
              <a:buNone/>
            </a:pPr>
            <a:r>
              <a:rPr lang="en-US" sz="1150" b="1" dirty="0">
                <a:solidFill>
                  <a:srgbClr val="FFFFFF"/>
                </a:solidFill>
              </a:rPr>
              <a:t>Gaussiano</a:t>
            </a:r>
            <a:endParaRPr lang="en-US" sz="1150" dirty="0"/>
          </a:p>
        </p:txBody>
      </p:sp>
      <p:sp>
        <p:nvSpPr>
          <p:cNvPr id="16" name="Text 14"/>
          <p:cNvSpPr/>
          <p:nvPr/>
        </p:nvSpPr>
        <p:spPr>
          <a:xfrm>
            <a:off x="4983480" y="2395728"/>
            <a:ext cx="1325880" cy="713232"/>
          </a:xfrm>
          <a:prstGeom prst="rect">
            <a:avLst/>
          </a:prstGeom>
          <a:solidFill>
            <a:srgbClr val="F28C28"/>
          </a:solidFill>
          <a:ln>
            <a:solidFill>
              <a:srgbClr val="F28C28"/>
            </a:solidFill>
          </a:ln>
        </p:spPr>
        <p:txBody>
          <a:bodyPr wrap="square" lIns="508" tIns="508" rIns="508" bIns="508" rtlCol="0" anchor="ctr">
            <a:normAutofit/>
          </a:bodyPr>
          <a:lstStyle/>
          <a:p>
            <a:pPr algn="ctr" indent="0" marL="0">
              <a:buNone/>
            </a:pPr>
            <a:r>
              <a:rPr lang="en-US" sz="1150" b="1" dirty="0">
                <a:solidFill>
                  <a:srgbClr val="FFFFFF"/>
                </a:solidFill>
              </a:rPr>
              <a:t>Función de</a:t>
            </a:r>
            <a:endParaRPr lang="en-US" sz="1150" dirty="0"/>
          </a:p>
          <a:p>
            <a:pPr algn="ctr" indent="0" marL="0">
              <a:buNone/>
            </a:pPr>
            <a:r>
              <a:rPr lang="en-US" sz="1150" b="1" dirty="0">
                <a:solidFill>
                  <a:srgbClr val="FFFFFF"/>
                </a:solidFill>
              </a:rPr>
              <a:t>adquisición</a:t>
            </a:r>
            <a:endParaRPr lang="en-US" sz="1150" dirty="0"/>
          </a:p>
        </p:txBody>
      </p:sp>
      <p:sp>
        <p:nvSpPr>
          <p:cNvPr id="17" name="Text 15"/>
          <p:cNvSpPr/>
          <p:nvPr/>
        </p:nvSpPr>
        <p:spPr>
          <a:xfrm>
            <a:off x="7086600" y="2395728"/>
            <a:ext cx="1325880" cy="713232"/>
          </a:xfrm>
          <a:prstGeom prst="rect">
            <a:avLst/>
          </a:prstGeom>
          <a:solidFill>
            <a:srgbClr val="5D4AA6"/>
          </a:solidFill>
          <a:ln>
            <a:solidFill>
              <a:srgbClr val="5D4AA6"/>
            </a:solidFill>
          </a:ln>
        </p:spPr>
        <p:txBody>
          <a:bodyPr wrap="square" lIns="508" tIns="508" rIns="508" bIns="508" rtlCol="0" anchor="ctr">
            <a:normAutofit/>
          </a:bodyPr>
          <a:lstStyle/>
          <a:p>
            <a:pPr algn="ctr" indent="0" marL="0">
              <a:buNone/>
            </a:pPr>
            <a:r>
              <a:rPr lang="en-US" sz="1150" b="1" dirty="0">
                <a:solidFill>
                  <a:srgbClr val="FFFFFF"/>
                </a:solidFill>
              </a:rPr>
              <a:t>Siguiente</a:t>
            </a:r>
            <a:endParaRPr lang="en-US" sz="1150" dirty="0"/>
          </a:p>
          <a:p>
            <a:pPr algn="ctr" indent="0" marL="0">
              <a:buNone/>
            </a:pPr>
            <a:r>
              <a:rPr lang="en-US" sz="1150" b="1" dirty="0">
                <a:solidFill>
                  <a:srgbClr val="FFFFFF"/>
                </a:solidFill>
              </a:rPr>
              <a:t>prueba</a:t>
            </a:r>
            <a:endParaRPr lang="en-US" sz="1150" dirty="0"/>
          </a:p>
        </p:txBody>
      </p:sp>
      <p:sp>
        <p:nvSpPr>
          <p:cNvPr id="18" name="Text 16"/>
          <p:cNvSpPr/>
          <p:nvPr/>
        </p:nvSpPr>
        <p:spPr>
          <a:xfrm>
            <a:off x="9189720" y="2395728"/>
            <a:ext cx="1325880" cy="713232"/>
          </a:xfrm>
          <a:prstGeom prst="rect">
            <a:avLst/>
          </a:prstGeom>
          <a:solidFill>
            <a:srgbClr val="003A70"/>
          </a:solidFill>
          <a:ln>
            <a:solidFill>
              <a:srgbClr val="003A70"/>
            </a:solidFill>
          </a:ln>
        </p:spPr>
        <p:txBody>
          <a:bodyPr wrap="square" lIns="508" tIns="508" rIns="508" bIns="508" rtlCol="0" anchor="ctr">
            <a:normAutofit/>
          </a:bodyPr>
          <a:lstStyle/>
          <a:p>
            <a:pPr algn="ctr" indent="0" marL="0">
              <a:buNone/>
            </a:pPr>
            <a:r>
              <a:rPr lang="en-US" sz="1150" b="1" dirty="0">
                <a:solidFill>
                  <a:srgbClr val="FFFFFF"/>
                </a:solidFill>
              </a:rPr>
              <a:t>Actualizar</a:t>
            </a:r>
            <a:endParaRPr lang="en-US" sz="1150" dirty="0"/>
          </a:p>
          <a:p>
            <a:pPr algn="ctr" indent="0" marL="0">
              <a:buNone/>
            </a:pPr>
            <a:r>
              <a:rPr lang="en-US" sz="1150" b="1" dirty="0">
                <a:solidFill>
                  <a:srgbClr val="FFFFFF"/>
                </a:solidFill>
              </a:rPr>
              <a:t>modelo</a:t>
            </a:r>
            <a:endParaRPr lang="en-US" sz="1150" dirty="0"/>
          </a:p>
        </p:txBody>
      </p:sp>
      <p:sp>
        <p:nvSpPr>
          <p:cNvPr id="19" name="Text 17"/>
          <p:cNvSpPr/>
          <p:nvPr/>
        </p:nvSpPr>
        <p:spPr>
          <a:xfrm>
            <a:off x="868680" y="4160520"/>
            <a:ext cx="4800600" cy="256032"/>
          </a:xfrm>
          <a:prstGeom prst="rect">
            <a:avLst/>
          </a:prstGeom>
          <a:noFill/>
          <a:ln/>
        </p:spPr>
        <p:txBody>
          <a:bodyPr wrap="square" lIns="0" tIns="0" rIns="0" bIns="0" rtlCol="0" anchor="ctr"/>
          <a:lstStyle/>
          <a:p>
            <a:pPr indent="0" marL="0">
              <a:buNone/>
            </a:pPr>
            <a:r>
              <a:rPr lang="en-US" sz="1150" b="1" dirty="0">
                <a:solidFill>
                  <a:srgbClr val="003A70"/>
                </a:solidFill>
              </a:rPr>
              <a:t>Score de negocio</a:t>
            </a:r>
            <a:endParaRPr lang="en-US" sz="1150" dirty="0"/>
          </a:p>
        </p:txBody>
      </p:sp>
      <p:sp>
        <p:nvSpPr>
          <p:cNvPr id="20" name="Text 18"/>
          <p:cNvSpPr/>
          <p:nvPr/>
        </p:nvSpPr>
        <p:spPr>
          <a:xfrm>
            <a:off x="868680" y="4471416"/>
            <a:ext cx="4800600" cy="530352"/>
          </a:xfrm>
          <a:prstGeom prst="rect">
            <a:avLst/>
          </a:prstGeom>
          <a:solidFill>
            <a:srgbClr val="EAF2FA"/>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Probabilidad de conversión estimada menos penalización por costo, beneficio y contacto.</a:t>
            </a:r>
            <a:endParaRPr lang="en-US" sz="1140" dirty="0"/>
          </a:p>
        </p:txBody>
      </p:sp>
      <p:sp>
        <p:nvSpPr>
          <p:cNvPr id="21" name="Text 19"/>
          <p:cNvSpPr/>
          <p:nvPr/>
        </p:nvSpPr>
        <p:spPr>
          <a:xfrm>
            <a:off x="6355080" y="4160520"/>
            <a:ext cx="4800600" cy="256032"/>
          </a:xfrm>
          <a:prstGeom prst="rect">
            <a:avLst/>
          </a:prstGeom>
          <a:noFill/>
          <a:ln/>
        </p:spPr>
        <p:txBody>
          <a:bodyPr wrap="square" lIns="0" tIns="0" rIns="0" bIns="0" rtlCol="0" anchor="ctr"/>
          <a:lstStyle/>
          <a:p>
            <a:pPr indent="0" marL="0">
              <a:buNone/>
            </a:pPr>
            <a:r>
              <a:rPr lang="en-US" sz="1150" b="1" dirty="0">
                <a:solidFill>
                  <a:srgbClr val="F28C28"/>
                </a:solidFill>
              </a:rPr>
              <a:t>UCB</a:t>
            </a:r>
            <a:endParaRPr lang="en-US" sz="1150" dirty="0"/>
          </a:p>
        </p:txBody>
      </p:sp>
      <p:sp>
        <p:nvSpPr>
          <p:cNvPr id="22" name="Text 20"/>
          <p:cNvSpPr/>
          <p:nvPr/>
        </p:nvSpPr>
        <p:spPr>
          <a:xfrm>
            <a:off x="6355080" y="4471416"/>
            <a:ext cx="4800600" cy="530352"/>
          </a:xfrm>
          <a:prstGeom prst="rect">
            <a:avLst/>
          </a:prstGeom>
          <a:solidFill>
            <a:srgbClr val="FFF4E8"/>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Media esperada más bono por incertidumbre para balancear exploración y explotación.</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Experimento prescriptivo</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BO vs Random Search</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12</a:t>
            </a:r>
            <a:endParaRPr lang="en-US" sz="820" dirty="0"/>
          </a:p>
        </p:txBody>
      </p:sp>
      <p:pic>
        <p:nvPicPr>
          <p:cNvPr id="8" name="Image 0" descr="/mnt/data/movistar_bayes_ml_proyecto/figures/bo_vs_random.png">    </p:cNvPr>
          <p:cNvPicPr>
            <a:picLocks noChangeAspect="1"/>
          </p:cNvPicPr>
          <p:nvPr/>
        </p:nvPicPr>
        <p:blipFill>
          <a:blip r:embed="rId1"/>
          <a:stretch>
            <a:fillRect/>
          </a:stretch>
        </p:blipFill>
        <p:spPr>
          <a:xfrm>
            <a:off x="658368" y="1520190"/>
            <a:ext cx="5715000" cy="2857500"/>
          </a:xfrm>
          <a:prstGeom prst="rect">
            <a:avLst/>
          </a:prstGeom>
        </p:spPr>
      </p:pic>
      <p:sp>
        <p:nvSpPr>
          <p:cNvPr id="9" name="Text 6"/>
          <p:cNvSpPr/>
          <p:nvPr/>
        </p:nvSpPr>
        <p:spPr>
          <a:xfrm>
            <a:off x="6629400" y="1143000"/>
            <a:ext cx="2194560" cy="219456"/>
          </a:xfrm>
          <a:prstGeom prst="rect">
            <a:avLst/>
          </a:prstGeom>
          <a:noFill/>
          <a:ln/>
        </p:spPr>
        <p:txBody>
          <a:bodyPr wrap="square" lIns="0" tIns="0" rIns="0" bIns="0" rtlCol="0" anchor="ctr"/>
          <a:lstStyle/>
          <a:p>
            <a:pPr indent="0" marL="0">
              <a:buNone/>
            </a:pPr>
            <a:r>
              <a:rPr lang="en-US" sz="850" b="1" dirty="0">
                <a:solidFill>
                  <a:srgbClr val="F28C28"/>
                </a:solidFill>
              </a:rPr>
              <a:t>RESULTADO</a:t>
            </a:r>
            <a:endParaRPr lang="en-US" sz="850" dirty="0"/>
          </a:p>
        </p:txBody>
      </p:sp>
      <p:sp>
        <p:nvSpPr>
          <p:cNvPr id="10" name="Text 7"/>
          <p:cNvSpPr/>
          <p:nvPr/>
        </p:nvSpPr>
        <p:spPr>
          <a:xfrm>
            <a:off x="6675120" y="1481328"/>
            <a:ext cx="4480560" cy="1097280"/>
          </a:xfrm>
          <a:prstGeom prst="rect">
            <a:avLst/>
          </a:prstGeom>
          <a:noFill/>
          <a:ln/>
        </p:spPr>
        <p:txBody>
          <a:bodyPr wrap="square" lIns="508" tIns="508" rIns="508" bIns="508" rtlCol="0" anchor="t">
            <a:normAutofit/>
          </a:bodyPr>
          <a:lstStyle/>
          <a:p>
            <a:pPr indent="0" marL="0">
              <a:buNone/>
            </a:pPr>
            <a:r>
              <a:rPr lang="en-US" sz="1260" dirty="0">
                <a:solidFill>
                  <a:srgbClr val="263238"/>
                </a:solidFill>
              </a:rPr>
              <a:t>• Ambos métodos usan el mismo presupuesto: 30 pruebas.</a:t>
            </a:r>
            <a:endParaRPr lang="en-US" sz="1260" dirty="0"/>
          </a:p>
          <a:p>
            <a:pPr indent="0" marL="0">
              <a:buNone/>
            </a:pPr>
            <a:r>
              <a:rPr lang="en-US" sz="1260" dirty="0">
                <a:solidFill>
                  <a:srgbClr val="263238"/>
                </a:solidFill>
              </a:rPr>
              <a:t>• BO alcanza el mejor score antes en esta simulación.</a:t>
            </a:r>
            <a:endParaRPr lang="en-US" sz="1260" dirty="0"/>
          </a:p>
          <a:p>
            <a:pPr indent="0" marL="0">
              <a:buNone/>
            </a:pPr>
            <a:r>
              <a:rPr lang="en-US" sz="1260" dirty="0">
                <a:solidFill>
                  <a:srgbClr val="263238"/>
                </a:solidFill>
              </a:rPr>
              <a:t>• La recomendación no es automática: debe validarse con prueba controlada.</a:t>
            </a:r>
            <a:endParaRPr lang="en-US" sz="1260" dirty="0"/>
          </a:p>
        </p:txBody>
      </p:sp>
      <p:sp>
        <p:nvSpPr>
          <p:cNvPr id="11" name="Text 8"/>
          <p:cNvSpPr/>
          <p:nvPr/>
        </p:nvSpPr>
        <p:spPr>
          <a:xfrm>
            <a:off x="6629400" y="3154680"/>
            <a:ext cx="3017520" cy="219456"/>
          </a:xfrm>
          <a:prstGeom prst="rect">
            <a:avLst/>
          </a:prstGeom>
          <a:noFill/>
          <a:ln/>
        </p:spPr>
        <p:txBody>
          <a:bodyPr wrap="square" lIns="0" tIns="0" rIns="0" bIns="0" rtlCol="0" anchor="ctr"/>
          <a:lstStyle/>
          <a:p>
            <a:pPr indent="0" marL="0">
              <a:buNone/>
            </a:pPr>
            <a:r>
              <a:rPr lang="en-US" sz="850" b="1" dirty="0">
                <a:solidFill>
                  <a:srgbClr val="F28C28"/>
                </a:solidFill>
              </a:rPr>
              <a:t>CONFIGURACIÓN RECOMENDADA</a:t>
            </a:r>
            <a:endParaRPr lang="en-US" sz="850" dirty="0"/>
          </a:p>
        </p:txBody>
      </p:sp>
      <p:sp>
        <p:nvSpPr>
          <p:cNvPr id="12" name="Text 9"/>
          <p:cNvSpPr/>
          <p:nvPr/>
        </p:nvSpPr>
        <p:spPr>
          <a:xfrm>
            <a:off x="6675120" y="3493008"/>
            <a:ext cx="4480560" cy="1234440"/>
          </a:xfrm>
          <a:prstGeom prst="rect">
            <a:avLst/>
          </a:prstGeom>
          <a:noFill/>
          <a:ln/>
        </p:spPr>
        <p:txBody>
          <a:bodyPr wrap="square" lIns="508" tIns="508" rIns="508" bIns="508" rtlCol="0" anchor="t">
            <a:normAutofit/>
          </a:bodyPr>
          <a:lstStyle/>
          <a:p>
            <a:pPr indent="0" marL="0">
              <a:buNone/>
            </a:pPr>
            <a:r>
              <a:rPr lang="en-US" sz="1200" dirty="0">
                <a:solidFill>
                  <a:srgbClr val="263238"/>
                </a:solidFill>
              </a:rPr>
              <a:t>• Segmento: Jóvenes.</a:t>
            </a:r>
            <a:endParaRPr lang="en-US" sz="1200" dirty="0"/>
          </a:p>
          <a:p>
            <a:pPr indent="0" marL="0">
              <a:buNone/>
            </a:pPr>
            <a:r>
              <a:rPr lang="en-US" sz="1200" dirty="0">
                <a:solidFill>
                  <a:srgbClr val="263238"/>
                </a:solidFill>
              </a:rPr>
              <a:t>• Hora: 19:00.</a:t>
            </a:r>
            <a:endParaRPr lang="en-US" sz="1200" dirty="0"/>
          </a:p>
          <a:p>
            <a:pPr indent="0" marL="0">
              <a:buNone/>
            </a:pPr>
            <a:r>
              <a:rPr lang="en-US" sz="1200" dirty="0">
                <a:solidFill>
                  <a:srgbClr val="263238"/>
                </a:solidFill>
              </a:rPr>
              <a:t>• Canal: Chatbot Web.</a:t>
            </a:r>
            <a:endParaRPr lang="en-US" sz="1200" dirty="0"/>
          </a:p>
          <a:p>
            <a:pPr indent="0" marL="0">
              <a:buNone/>
            </a:pPr>
            <a:r>
              <a:rPr lang="en-US" sz="1200" dirty="0">
                <a:solidFill>
                  <a:srgbClr val="263238"/>
                </a:solidFill>
              </a:rPr>
              <a:t>• Wording: Digital.</a:t>
            </a:r>
            <a:endParaRPr lang="en-US" sz="1200" dirty="0"/>
          </a:p>
          <a:p>
            <a:pPr indent="0" marL="0">
              <a:buNone/>
            </a:pPr>
            <a:r>
              <a:rPr lang="en-US" sz="1200" dirty="0">
                <a:solidFill>
                  <a:srgbClr val="263238"/>
                </a:solidFill>
              </a:rPr>
              <a:t>• Beneficio: Descuento 20%.</a:t>
            </a:r>
            <a:endParaRPr lang="en-US" sz="1200" dirty="0"/>
          </a:p>
          <a:p>
            <a:pPr indent="0" marL="0">
              <a:buNone/>
            </a:pPr>
            <a:r>
              <a:rPr lang="en-US" sz="1200" dirty="0">
                <a:solidFill>
                  <a:srgbClr val="263238"/>
                </a:solidFill>
              </a:rPr>
              <a:t>• Flujo: corto.</a:t>
            </a:r>
            <a:endParaRPr lang="en-US" sz="1200" dirty="0"/>
          </a:p>
        </p:txBody>
      </p:sp>
      <p:sp>
        <p:nvSpPr>
          <p:cNvPr id="13" name="Text 10"/>
          <p:cNvSpPr/>
          <p:nvPr/>
        </p:nvSpPr>
        <p:spPr>
          <a:xfrm>
            <a:off x="6675120" y="5166360"/>
            <a:ext cx="4526280" cy="256032"/>
          </a:xfrm>
          <a:prstGeom prst="rect">
            <a:avLst/>
          </a:prstGeom>
          <a:noFill/>
          <a:ln/>
        </p:spPr>
        <p:txBody>
          <a:bodyPr wrap="square" lIns="0" tIns="0" rIns="0" bIns="0" rtlCol="0" anchor="ctr"/>
          <a:lstStyle/>
          <a:p>
            <a:pPr indent="0" marL="0">
              <a:buNone/>
            </a:pPr>
            <a:r>
              <a:rPr lang="en-US" sz="1150" b="1" dirty="0">
                <a:solidFill>
                  <a:srgbClr val="258750"/>
                </a:solidFill>
              </a:rPr>
              <a:t>Estimación</a:t>
            </a:r>
            <a:endParaRPr lang="en-US" sz="1150" dirty="0"/>
          </a:p>
        </p:txBody>
      </p:sp>
      <p:sp>
        <p:nvSpPr>
          <p:cNvPr id="14" name="Text 11"/>
          <p:cNvSpPr/>
          <p:nvPr/>
        </p:nvSpPr>
        <p:spPr>
          <a:xfrm>
            <a:off x="6675120" y="5477256"/>
            <a:ext cx="4526280" cy="164592"/>
          </a:xfrm>
          <a:prstGeom prst="rect">
            <a:avLst/>
          </a:prstGeom>
          <a:solidFill>
            <a:srgbClr val="EAF7EF"/>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Probabilidad de conversión: 57.1% · Score de negocio ajustado: 0.548</a:t>
            </a:r>
            <a:endParaRPr lang="en-US" sz="11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Simulador ejecutivo en Colab</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Predicción + recomendación</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13</a:t>
            </a:r>
            <a:endParaRPr lang="en-US" sz="820" dirty="0"/>
          </a:p>
        </p:txBody>
      </p:sp>
      <p:sp>
        <p:nvSpPr>
          <p:cNvPr id="8" name="Text 6"/>
          <p:cNvSpPr/>
          <p:nvPr/>
        </p:nvSpPr>
        <p:spPr>
          <a:xfrm>
            <a:off x="777240" y="1143000"/>
            <a:ext cx="3154680" cy="256032"/>
          </a:xfrm>
          <a:prstGeom prst="rect">
            <a:avLst/>
          </a:prstGeom>
          <a:noFill/>
          <a:ln/>
        </p:spPr>
        <p:txBody>
          <a:bodyPr wrap="square" lIns="0" tIns="0" rIns="0" bIns="0" rtlCol="0" anchor="ctr"/>
          <a:lstStyle/>
          <a:p>
            <a:pPr indent="0" marL="0">
              <a:buNone/>
            </a:pPr>
            <a:r>
              <a:rPr lang="en-US" sz="1150" b="1" dirty="0">
                <a:solidFill>
                  <a:srgbClr val="003A70"/>
                </a:solidFill>
              </a:rPr>
              <a:t>Entrada</a:t>
            </a:r>
            <a:endParaRPr lang="en-US" sz="1150" dirty="0"/>
          </a:p>
        </p:txBody>
      </p:sp>
      <p:sp>
        <p:nvSpPr>
          <p:cNvPr id="9" name="Text 7"/>
          <p:cNvSpPr/>
          <p:nvPr/>
        </p:nvSpPr>
        <p:spPr>
          <a:xfrm>
            <a:off x="777240" y="1453896"/>
            <a:ext cx="3154680" cy="740664"/>
          </a:xfrm>
          <a:prstGeom prst="rect">
            <a:avLst/>
          </a:prstGeom>
          <a:solidFill>
            <a:srgbClr val="EAF2FA"/>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Segmento, hora, canal, wording, beneficio, flujo, historial de campañas y características del cliente.</a:t>
            </a:r>
            <a:endParaRPr lang="en-US" sz="1140" dirty="0"/>
          </a:p>
        </p:txBody>
      </p:sp>
      <p:sp>
        <p:nvSpPr>
          <p:cNvPr id="10" name="Shape 8"/>
          <p:cNvSpPr/>
          <p:nvPr/>
        </p:nvSpPr>
        <p:spPr>
          <a:xfrm>
            <a:off x="4160520" y="1874520"/>
            <a:ext cx="731520" cy="0"/>
          </a:xfrm>
          <a:prstGeom prst="line">
            <a:avLst/>
          </a:prstGeom>
          <a:noFill/>
          <a:ln w="20320">
            <a:solidFill>
              <a:srgbClr val="667085"/>
            </a:solidFill>
            <a:prstDash val="solid"/>
            <a:tailEnd type="triangle"/>
          </a:ln>
        </p:spPr>
      </p:sp>
      <p:sp>
        <p:nvSpPr>
          <p:cNvPr id="11" name="Text 9"/>
          <p:cNvSpPr/>
          <p:nvPr/>
        </p:nvSpPr>
        <p:spPr>
          <a:xfrm>
            <a:off x="5074920" y="1143000"/>
            <a:ext cx="3154680" cy="256032"/>
          </a:xfrm>
          <a:prstGeom prst="rect">
            <a:avLst/>
          </a:prstGeom>
          <a:noFill/>
          <a:ln/>
        </p:spPr>
        <p:txBody>
          <a:bodyPr wrap="square" lIns="0" tIns="0" rIns="0" bIns="0" rtlCol="0" anchor="ctr"/>
          <a:lstStyle/>
          <a:p>
            <a:pPr indent="0" marL="0">
              <a:buNone/>
            </a:pPr>
            <a:r>
              <a:rPr lang="en-US" sz="1150" b="1" dirty="0">
                <a:solidFill>
                  <a:srgbClr val="F28C28"/>
                </a:solidFill>
              </a:rPr>
              <a:t>Motor analítico</a:t>
            </a:r>
            <a:endParaRPr lang="en-US" sz="1150" dirty="0"/>
          </a:p>
        </p:txBody>
      </p:sp>
      <p:sp>
        <p:nvSpPr>
          <p:cNvPr id="12" name="Text 10"/>
          <p:cNvSpPr/>
          <p:nvPr/>
        </p:nvSpPr>
        <p:spPr>
          <a:xfrm>
            <a:off x="5074920" y="1453896"/>
            <a:ext cx="3154680" cy="740664"/>
          </a:xfrm>
          <a:prstGeom prst="rect">
            <a:avLst/>
          </a:prstGeom>
          <a:solidFill>
            <a:srgbClr val="FFF4E8"/>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Pipeline sklearn + XGBoost para estimar conversión; GP + UCB para recomendar la siguiente prueba.</a:t>
            </a:r>
            <a:endParaRPr lang="en-US" sz="1140" dirty="0"/>
          </a:p>
        </p:txBody>
      </p:sp>
      <p:sp>
        <p:nvSpPr>
          <p:cNvPr id="13" name="Shape 11"/>
          <p:cNvSpPr/>
          <p:nvPr/>
        </p:nvSpPr>
        <p:spPr>
          <a:xfrm>
            <a:off x="8458200" y="1874520"/>
            <a:ext cx="731520" cy="0"/>
          </a:xfrm>
          <a:prstGeom prst="line">
            <a:avLst/>
          </a:prstGeom>
          <a:noFill/>
          <a:ln w="20320">
            <a:solidFill>
              <a:srgbClr val="667085"/>
            </a:solidFill>
            <a:prstDash val="solid"/>
            <a:tailEnd type="triangle"/>
          </a:ln>
        </p:spPr>
      </p:sp>
      <p:sp>
        <p:nvSpPr>
          <p:cNvPr id="14" name="Text 12"/>
          <p:cNvSpPr/>
          <p:nvPr/>
        </p:nvSpPr>
        <p:spPr>
          <a:xfrm>
            <a:off x="9372600" y="1143000"/>
            <a:ext cx="2057400" cy="256032"/>
          </a:xfrm>
          <a:prstGeom prst="rect">
            <a:avLst/>
          </a:prstGeom>
          <a:noFill/>
          <a:ln/>
        </p:spPr>
        <p:txBody>
          <a:bodyPr wrap="square" lIns="0" tIns="0" rIns="0" bIns="0" rtlCol="0" anchor="ctr"/>
          <a:lstStyle/>
          <a:p>
            <a:pPr indent="0" marL="0">
              <a:buNone/>
            </a:pPr>
            <a:r>
              <a:rPr lang="en-US" sz="1150" b="1" dirty="0">
                <a:solidFill>
                  <a:srgbClr val="258750"/>
                </a:solidFill>
              </a:rPr>
              <a:t>Salida</a:t>
            </a:r>
            <a:endParaRPr lang="en-US" sz="1150" dirty="0"/>
          </a:p>
        </p:txBody>
      </p:sp>
      <p:sp>
        <p:nvSpPr>
          <p:cNvPr id="15" name="Text 13"/>
          <p:cNvSpPr/>
          <p:nvPr/>
        </p:nvSpPr>
        <p:spPr>
          <a:xfrm>
            <a:off x="9372600" y="1453896"/>
            <a:ext cx="2057400" cy="740664"/>
          </a:xfrm>
          <a:prstGeom prst="rect">
            <a:avLst/>
          </a:prstGeom>
          <a:solidFill>
            <a:srgbClr val="EAF7EF"/>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Probabilidad estimada, score de negocio y configuración candidata para validar con experimento.</a:t>
            </a:r>
            <a:endParaRPr lang="en-US" sz="1140" dirty="0"/>
          </a:p>
        </p:txBody>
      </p:sp>
      <p:sp>
        <p:nvSpPr>
          <p:cNvPr id="16" name="Text 14"/>
          <p:cNvSpPr/>
          <p:nvPr/>
        </p:nvSpPr>
        <p:spPr>
          <a:xfrm>
            <a:off x="822960" y="3246120"/>
            <a:ext cx="2286000" cy="219456"/>
          </a:xfrm>
          <a:prstGeom prst="rect">
            <a:avLst/>
          </a:prstGeom>
          <a:noFill/>
          <a:ln/>
        </p:spPr>
        <p:txBody>
          <a:bodyPr wrap="square" lIns="0" tIns="0" rIns="0" bIns="0" rtlCol="0" anchor="ctr"/>
          <a:lstStyle/>
          <a:p>
            <a:pPr indent="0" marL="0">
              <a:buNone/>
            </a:pPr>
            <a:r>
              <a:rPr lang="en-US" sz="850" b="1" dirty="0">
                <a:solidFill>
                  <a:srgbClr val="F28C28"/>
                </a:solidFill>
              </a:rPr>
              <a:t>USO ESPERADO</a:t>
            </a:r>
            <a:endParaRPr lang="en-US" sz="850" dirty="0"/>
          </a:p>
        </p:txBody>
      </p:sp>
      <p:sp>
        <p:nvSpPr>
          <p:cNvPr id="17" name="Text 15"/>
          <p:cNvSpPr/>
          <p:nvPr/>
        </p:nvSpPr>
        <p:spPr>
          <a:xfrm>
            <a:off x="868680" y="3584448"/>
            <a:ext cx="10287000" cy="1234440"/>
          </a:xfrm>
          <a:prstGeom prst="rect">
            <a:avLst/>
          </a:prstGeom>
          <a:noFill/>
          <a:ln/>
        </p:spPr>
        <p:txBody>
          <a:bodyPr wrap="square" lIns="508" tIns="508" rIns="508" bIns="508" rtlCol="0" anchor="t">
            <a:normAutofit/>
          </a:bodyPr>
          <a:lstStyle/>
          <a:p>
            <a:pPr indent="0" marL="0">
              <a:buNone/>
            </a:pPr>
            <a:r>
              <a:rPr lang="en-US" sz="1300" dirty="0">
                <a:solidFill>
                  <a:srgbClr val="263238"/>
                </a:solidFill>
              </a:rPr>
              <a:t>• El comité de campañas revisa alternativas candidatas.</a:t>
            </a:r>
            <a:endParaRPr lang="en-US" sz="1300" dirty="0"/>
          </a:p>
          <a:p>
            <a:pPr indent="0" marL="0">
              <a:buNone/>
            </a:pPr>
            <a:r>
              <a:rPr lang="en-US" sz="1300" dirty="0">
                <a:solidFill>
                  <a:srgbClr val="263238"/>
                </a:solidFill>
              </a:rPr>
              <a:t>• El equipo digital asigna tráfico controlado a la mejor prueba.</a:t>
            </a:r>
            <a:endParaRPr lang="en-US" sz="1300" dirty="0"/>
          </a:p>
          <a:p>
            <a:pPr indent="0" marL="0">
              <a:buNone/>
            </a:pPr>
            <a:r>
              <a:rPr lang="en-US" sz="1300" dirty="0">
                <a:solidFill>
                  <a:srgbClr val="263238"/>
                </a:solidFill>
              </a:rPr>
              <a:t>• Los resultados reales retroalimentan el modelo.</a:t>
            </a:r>
            <a:endParaRPr lang="en-US" sz="1300" dirty="0"/>
          </a:p>
          <a:p>
            <a:pPr indent="0" marL="0">
              <a:buNone/>
            </a:pPr>
            <a:r>
              <a:rPr lang="en-US" sz="1300" dirty="0">
                <a:solidFill>
                  <a:srgbClr val="263238"/>
                </a:solidFill>
              </a:rPr>
              <a:t>• Las decisiones quedan documentadas y reproducibles.</a:t>
            </a:r>
            <a:endParaRPr lang="en-US" sz="1300" dirty="0"/>
          </a:p>
        </p:txBody>
      </p:sp>
      <p:sp>
        <p:nvSpPr>
          <p:cNvPr id="18" name="Text 16"/>
          <p:cNvSpPr/>
          <p:nvPr/>
        </p:nvSpPr>
        <p:spPr>
          <a:xfrm>
            <a:off x="868680" y="5349240"/>
            <a:ext cx="10104120" cy="256032"/>
          </a:xfrm>
          <a:prstGeom prst="rect">
            <a:avLst/>
          </a:prstGeom>
          <a:noFill/>
          <a:ln/>
        </p:spPr>
        <p:txBody>
          <a:bodyPr wrap="square" lIns="0" tIns="0" rIns="0" bIns="0" rtlCol="0" anchor="ctr"/>
          <a:lstStyle/>
          <a:p>
            <a:pPr indent="0" marL="0">
              <a:buNone/>
            </a:pPr>
            <a:r>
              <a:rPr lang="en-US" sz="1150" b="1" dirty="0">
                <a:solidFill>
                  <a:srgbClr val="003A70"/>
                </a:solidFill>
              </a:rPr>
              <a:t>Instrucción operativa</a:t>
            </a:r>
            <a:endParaRPr lang="en-US" sz="1150" dirty="0"/>
          </a:p>
        </p:txBody>
      </p:sp>
      <p:sp>
        <p:nvSpPr>
          <p:cNvPr id="19" name="Text 17"/>
          <p:cNvSpPr/>
          <p:nvPr/>
        </p:nvSpPr>
        <p:spPr>
          <a:xfrm>
            <a:off x="868680" y="5660136"/>
            <a:ext cx="10104120" cy="164592"/>
          </a:xfrm>
          <a:prstGeom prst="rect">
            <a:avLst/>
          </a:prstGeom>
          <a:solidFill>
            <a:srgbClr val="F4F6F8"/>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Abrir el notebook en Google Colab, ejecutar todas las celdas y revisar las salidas de métricas, gráficos y recomendación BO.</a:t>
            </a:r>
            <a:endParaRPr lang="en-US" sz="11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Implementación y reproducibilidad</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Repositorio listo para GitHub</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14</a:t>
            </a:r>
            <a:endParaRPr lang="en-US" sz="820" dirty="0"/>
          </a:p>
        </p:txBody>
      </p:sp>
      <p:sp>
        <p:nvSpPr>
          <p:cNvPr id="8" name="Text 6"/>
          <p:cNvSpPr/>
          <p:nvPr/>
        </p:nvSpPr>
        <p:spPr>
          <a:xfrm>
            <a:off x="868680" y="1234440"/>
            <a:ext cx="1920240" cy="475488"/>
          </a:xfrm>
          <a:prstGeom prst="rect">
            <a:avLst/>
          </a:prstGeom>
          <a:solidFill>
            <a:srgbClr val="003A70"/>
          </a:solidFill>
          <a:ln w="8890">
            <a:solidFill>
              <a:srgbClr val="D9E2EC"/>
            </a:solidFill>
          </a:ln>
        </p:spPr>
        <p:txBody>
          <a:bodyPr wrap="square" lIns="635" tIns="635" rIns="635" bIns="635" rtlCol="0" anchor="ctr">
            <a:normAutofit/>
          </a:bodyPr>
          <a:lstStyle/>
          <a:p>
            <a:pPr algn="l" indent="0" marL="0">
              <a:buNone/>
            </a:pPr>
            <a:r>
              <a:rPr lang="en-US" sz="930" b="1" dirty="0">
                <a:solidFill>
                  <a:srgbClr val="FFFFFF"/>
                </a:solidFill>
              </a:rPr>
              <a:t>Carpeta</a:t>
            </a:r>
            <a:endParaRPr lang="en-US" sz="930" dirty="0"/>
          </a:p>
        </p:txBody>
      </p:sp>
      <p:sp>
        <p:nvSpPr>
          <p:cNvPr id="9" name="Text 7"/>
          <p:cNvSpPr/>
          <p:nvPr/>
        </p:nvSpPr>
        <p:spPr>
          <a:xfrm>
            <a:off x="2788920" y="1234440"/>
            <a:ext cx="8138160" cy="475488"/>
          </a:xfrm>
          <a:prstGeom prst="rect">
            <a:avLst/>
          </a:prstGeom>
          <a:solidFill>
            <a:srgbClr val="003A70"/>
          </a:solidFill>
          <a:ln w="8890">
            <a:solidFill>
              <a:srgbClr val="D9E2EC"/>
            </a:solidFill>
          </a:ln>
        </p:spPr>
        <p:txBody>
          <a:bodyPr wrap="square" lIns="635" tIns="635" rIns="635" bIns="635" rtlCol="0" anchor="ctr">
            <a:normAutofit/>
          </a:bodyPr>
          <a:lstStyle/>
          <a:p>
            <a:pPr algn="ctr" indent="0" marL="0">
              <a:buNone/>
            </a:pPr>
            <a:r>
              <a:rPr lang="en-US" sz="930" b="1" dirty="0">
                <a:solidFill>
                  <a:srgbClr val="FFFFFF"/>
                </a:solidFill>
              </a:rPr>
              <a:t>Contenido</a:t>
            </a:r>
            <a:endParaRPr lang="en-US" sz="930" dirty="0"/>
          </a:p>
        </p:txBody>
      </p:sp>
      <p:sp>
        <p:nvSpPr>
          <p:cNvPr id="10" name="Text 8"/>
          <p:cNvSpPr/>
          <p:nvPr/>
        </p:nvSpPr>
        <p:spPr>
          <a:xfrm>
            <a:off x="868680" y="1709928"/>
            <a:ext cx="1920240" cy="475488"/>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notebooks/</a:t>
            </a:r>
            <a:endParaRPr lang="en-US" sz="900" dirty="0"/>
          </a:p>
        </p:txBody>
      </p:sp>
      <p:sp>
        <p:nvSpPr>
          <p:cNvPr id="11" name="Text 9"/>
          <p:cNvSpPr/>
          <p:nvPr/>
        </p:nvSpPr>
        <p:spPr>
          <a:xfrm>
            <a:off x="2788920" y="1709928"/>
            <a:ext cx="8138160"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Notebook Colab con ejecución paso a paso.</a:t>
            </a:r>
            <a:endParaRPr lang="en-US" sz="900" dirty="0"/>
          </a:p>
        </p:txBody>
      </p:sp>
      <p:sp>
        <p:nvSpPr>
          <p:cNvPr id="12" name="Text 10"/>
          <p:cNvSpPr/>
          <p:nvPr/>
        </p:nvSpPr>
        <p:spPr>
          <a:xfrm>
            <a:off x="868680" y="2185416"/>
            <a:ext cx="1920240" cy="475488"/>
          </a:xfrm>
          <a:prstGeom prst="rect">
            <a:avLst/>
          </a:prstGeom>
          <a:solidFill>
            <a:srgbClr val="F4F6F8"/>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data/</a:t>
            </a:r>
            <a:endParaRPr lang="en-US" sz="900" dirty="0"/>
          </a:p>
        </p:txBody>
      </p:sp>
      <p:sp>
        <p:nvSpPr>
          <p:cNvPr id="13" name="Text 11"/>
          <p:cNvSpPr/>
          <p:nvPr/>
        </p:nvSpPr>
        <p:spPr>
          <a:xfrm>
            <a:off x="2788920" y="2185416"/>
            <a:ext cx="8138160" cy="475488"/>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Dataset sintético reproducible.</a:t>
            </a:r>
            <a:endParaRPr lang="en-US" sz="900" dirty="0"/>
          </a:p>
        </p:txBody>
      </p:sp>
      <p:sp>
        <p:nvSpPr>
          <p:cNvPr id="14" name="Text 12"/>
          <p:cNvSpPr/>
          <p:nvPr/>
        </p:nvSpPr>
        <p:spPr>
          <a:xfrm>
            <a:off x="868680" y="2660904"/>
            <a:ext cx="1920240" cy="475488"/>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src/</a:t>
            </a:r>
            <a:endParaRPr lang="en-US" sz="900" dirty="0"/>
          </a:p>
        </p:txBody>
      </p:sp>
      <p:sp>
        <p:nvSpPr>
          <p:cNvPr id="15" name="Text 13"/>
          <p:cNvSpPr/>
          <p:nvPr/>
        </p:nvSpPr>
        <p:spPr>
          <a:xfrm>
            <a:off x="2788920" y="2660904"/>
            <a:ext cx="8138160"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Scripts de generación, entrenamiento y optimización.</a:t>
            </a:r>
            <a:endParaRPr lang="en-US" sz="900" dirty="0"/>
          </a:p>
        </p:txBody>
      </p:sp>
      <p:sp>
        <p:nvSpPr>
          <p:cNvPr id="16" name="Text 14"/>
          <p:cNvSpPr/>
          <p:nvPr/>
        </p:nvSpPr>
        <p:spPr>
          <a:xfrm>
            <a:off x="868680" y="3136392"/>
            <a:ext cx="1920240" cy="475488"/>
          </a:xfrm>
          <a:prstGeom prst="rect">
            <a:avLst/>
          </a:prstGeom>
          <a:solidFill>
            <a:srgbClr val="F4F6F8"/>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outputs/</a:t>
            </a:r>
            <a:endParaRPr lang="en-US" sz="900" dirty="0"/>
          </a:p>
        </p:txBody>
      </p:sp>
      <p:sp>
        <p:nvSpPr>
          <p:cNvPr id="17" name="Text 15"/>
          <p:cNvSpPr/>
          <p:nvPr/>
        </p:nvSpPr>
        <p:spPr>
          <a:xfrm>
            <a:off x="2788920" y="3136392"/>
            <a:ext cx="8138160" cy="475488"/>
          </a:xfrm>
          <a:prstGeom prst="rect">
            <a:avLst/>
          </a:prstGeom>
          <a:solidFill>
            <a:srgbClr val="F4F6F8"/>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Métricas, JSON de resultados y gráficos.</a:t>
            </a:r>
            <a:endParaRPr lang="en-US" sz="900" dirty="0"/>
          </a:p>
        </p:txBody>
      </p:sp>
      <p:sp>
        <p:nvSpPr>
          <p:cNvPr id="18" name="Text 16"/>
          <p:cNvSpPr/>
          <p:nvPr/>
        </p:nvSpPr>
        <p:spPr>
          <a:xfrm>
            <a:off x="868680" y="3611880"/>
            <a:ext cx="1920240" cy="475488"/>
          </a:xfrm>
          <a:prstGeom prst="rect">
            <a:avLst/>
          </a:prstGeom>
          <a:solidFill>
            <a:srgbClr val="FFFFFF"/>
          </a:solidFill>
          <a:ln w="8890">
            <a:solidFill>
              <a:srgbClr val="D9E2EC"/>
            </a:solidFill>
          </a:ln>
        </p:spPr>
        <p:txBody>
          <a:bodyPr wrap="square" lIns="635" tIns="635" rIns="635" bIns="635" rtlCol="0" anchor="ctr">
            <a:normAutofit/>
          </a:bodyPr>
          <a:lstStyle/>
          <a:p>
            <a:pPr algn="l" indent="0" marL="0">
              <a:buNone/>
            </a:pPr>
            <a:r>
              <a:rPr lang="en-US" sz="900" dirty="0">
                <a:solidFill>
                  <a:srgbClr val="263238"/>
                </a:solidFill>
              </a:rPr>
              <a:t>docs/</a:t>
            </a:r>
            <a:endParaRPr lang="en-US" sz="900" dirty="0"/>
          </a:p>
        </p:txBody>
      </p:sp>
      <p:sp>
        <p:nvSpPr>
          <p:cNvPr id="19" name="Text 17"/>
          <p:cNvSpPr/>
          <p:nvPr/>
        </p:nvSpPr>
        <p:spPr>
          <a:xfrm>
            <a:off x="2788920" y="3611880"/>
            <a:ext cx="8138160" cy="475488"/>
          </a:xfrm>
          <a:prstGeom prst="rect">
            <a:avLst/>
          </a:prstGeom>
          <a:solidFill>
            <a:srgbClr val="FFFFFF"/>
          </a:solidFill>
          <a:ln w="8890">
            <a:solidFill>
              <a:srgbClr val="D9E2EC"/>
            </a:solidFill>
          </a:ln>
        </p:spPr>
        <p:txBody>
          <a:bodyPr wrap="square" lIns="635" tIns="635" rIns="635" bIns="635" rtlCol="0" anchor="ctr">
            <a:normAutofit/>
          </a:bodyPr>
          <a:lstStyle/>
          <a:p>
            <a:pPr algn="ctr" indent="0" marL="0">
              <a:buNone/>
            </a:pPr>
            <a:r>
              <a:rPr lang="en-US" sz="900" dirty="0">
                <a:solidFill>
                  <a:srgbClr val="263238"/>
                </a:solidFill>
              </a:rPr>
              <a:t>Presentación ejecutiva y material de sustentación.</a:t>
            </a:r>
            <a:endParaRPr lang="en-US" sz="900" dirty="0"/>
          </a:p>
        </p:txBody>
      </p:sp>
      <p:sp>
        <p:nvSpPr>
          <p:cNvPr id="20" name="Text 18"/>
          <p:cNvSpPr/>
          <p:nvPr/>
        </p:nvSpPr>
        <p:spPr>
          <a:xfrm>
            <a:off x="868680" y="4315968"/>
            <a:ext cx="2743200" cy="219456"/>
          </a:xfrm>
          <a:prstGeom prst="rect">
            <a:avLst/>
          </a:prstGeom>
          <a:noFill/>
          <a:ln/>
        </p:spPr>
        <p:txBody>
          <a:bodyPr wrap="square" lIns="0" tIns="0" rIns="0" bIns="0" rtlCol="0" anchor="ctr"/>
          <a:lstStyle/>
          <a:p>
            <a:pPr indent="0" marL="0">
              <a:buNone/>
            </a:pPr>
            <a:r>
              <a:rPr lang="en-US" sz="850" b="1" dirty="0">
                <a:solidFill>
                  <a:srgbClr val="F28C28"/>
                </a:solidFill>
              </a:rPr>
              <a:t>PASOS PARA EJECUTAR</a:t>
            </a:r>
            <a:endParaRPr lang="en-US" sz="850" dirty="0"/>
          </a:p>
        </p:txBody>
      </p:sp>
      <p:sp>
        <p:nvSpPr>
          <p:cNvPr id="21" name="Text 19"/>
          <p:cNvSpPr/>
          <p:nvPr/>
        </p:nvSpPr>
        <p:spPr>
          <a:xfrm>
            <a:off x="914400" y="4645152"/>
            <a:ext cx="9784080" cy="960120"/>
          </a:xfrm>
          <a:prstGeom prst="rect">
            <a:avLst/>
          </a:prstGeom>
          <a:noFill/>
          <a:ln/>
        </p:spPr>
        <p:txBody>
          <a:bodyPr wrap="square" lIns="508" tIns="508" rIns="508" bIns="508" rtlCol="0" anchor="t">
            <a:normAutofit/>
          </a:bodyPr>
          <a:lstStyle/>
          <a:p>
            <a:pPr indent="0" marL="0">
              <a:buNone/>
            </a:pPr>
            <a:r>
              <a:rPr lang="en-US" sz="1260" dirty="0">
                <a:solidFill>
                  <a:srgbClr val="263238"/>
                </a:solidFill>
              </a:rPr>
              <a:t>• Subir el ZIP a un repositorio de GitHub.</a:t>
            </a:r>
            <a:endParaRPr lang="en-US" sz="1260" dirty="0"/>
          </a:p>
          <a:p>
            <a:pPr indent="0" marL="0">
              <a:buNone/>
            </a:pPr>
            <a:r>
              <a:rPr lang="en-US" sz="1260" dirty="0">
                <a:solidFill>
                  <a:srgbClr val="263238"/>
                </a:solidFill>
              </a:rPr>
              <a:t>• Abrir el notebook en Google Colab.</a:t>
            </a:r>
            <a:endParaRPr lang="en-US" sz="1260" dirty="0"/>
          </a:p>
          <a:p>
            <a:pPr indent="0" marL="0">
              <a:buNone/>
            </a:pPr>
            <a:r>
              <a:rPr lang="en-US" sz="1260" dirty="0">
                <a:solidFill>
                  <a:srgbClr val="263238"/>
                </a:solidFill>
              </a:rPr>
              <a:t>• Ejecutar las celdas en orden.</a:t>
            </a:r>
            <a:endParaRPr lang="en-US" sz="1260" dirty="0"/>
          </a:p>
          <a:p>
            <a:pPr indent="0" marL="0">
              <a:buNone/>
            </a:pPr>
            <a:r>
              <a:rPr lang="en-US" sz="1260" dirty="0">
                <a:solidFill>
                  <a:srgbClr val="263238"/>
                </a:solidFill>
              </a:rPr>
              <a:t>• Verificar métricas, gráficos y recomendación final.</a:t>
            </a:r>
            <a:endParaRPr lang="en-US" sz="1260" dirty="0"/>
          </a:p>
          <a:p>
            <a:pPr indent="0" marL="0">
              <a:buNone/>
            </a:pPr>
            <a:r>
              <a:rPr lang="en-US" sz="1260" dirty="0">
                <a:solidFill>
                  <a:srgbClr val="263238"/>
                </a:solidFill>
              </a:rPr>
              <a:t>• Pegar el enlace del repositorio en la entrega.</a:t>
            </a:r>
            <a:endParaRPr lang="en-US" sz="12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Impacto, riesgos y controles</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Implementación responsable</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15</a:t>
            </a:r>
            <a:endParaRPr lang="en-US" sz="820" dirty="0"/>
          </a:p>
        </p:txBody>
      </p:sp>
      <p:sp>
        <p:nvSpPr>
          <p:cNvPr id="8" name="Text 6"/>
          <p:cNvSpPr/>
          <p:nvPr/>
        </p:nvSpPr>
        <p:spPr>
          <a:xfrm>
            <a:off x="777240" y="1051560"/>
            <a:ext cx="2743200" cy="219456"/>
          </a:xfrm>
          <a:prstGeom prst="rect">
            <a:avLst/>
          </a:prstGeom>
          <a:noFill/>
          <a:ln/>
        </p:spPr>
        <p:txBody>
          <a:bodyPr wrap="square" lIns="0" tIns="0" rIns="0" bIns="0" rtlCol="0" anchor="ctr"/>
          <a:lstStyle/>
          <a:p>
            <a:pPr indent="0" marL="0">
              <a:buNone/>
            </a:pPr>
            <a:r>
              <a:rPr lang="en-US" sz="850" b="1" dirty="0">
                <a:solidFill>
                  <a:srgbClr val="F28C28"/>
                </a:solidFill>
              </a:rPr>
              <a:t>IMPACTO ESPERADO</a:t>
            </a:r>
            <a:endParaRPr lang="en-US" sz="850" dirty="0"/>
          </a:p>
        </p:txBody>
      </p:sp>
      <p:sp>
        <p:nvSpPr>
          <p:cNvPr id="9" name="Text 7"/>
          <p:cNvSpPr/>
          <p:nvPr/>
        </p:nvSpPr>
        <p:spPr>
          <a:xfrm>
            <a:off x="822960" y="1389888"/>
            <a:ext cx="3063240" cy="1143000"/>
          </a:xfrm>
          <a:prstGeom prst="rect">
            <a:avLst/>
          </a:prstGeom>
          <a:noFill/>
          <a:ln/>
        </p:spPr>
        <p:txBody>
          <a:bodyPr wrap="square" lIns="508" tIns="508" rIns="508" bIns="508" rtlCol="0" anchor="t">
            <a:normAutofit/>
          </a:bodyPr>
          <a:lstStyle/>
          <a:p>
            <a:pPr indent="0" marL="0">
              <a:buNone/>
            </a:pPr>
            <a:r>
              <a:rPr lang="en-US" sz="1230" dirty="0">
                <a:solidFill>
                  <a:srgbClr val="263238"/>
                </a:solidFill>
              </a:rPr>
              <a:t>• Menos pruebas innecesarias.</a:t>
            </a:r>
            <a:endParaRPr lang="en-US" sz="1230" dirty="0"/>
          </a:p>
          <a:p>
            <a:pPr indent="0" marL="0">
              <a:buNone/>
            </a:pPr>
            <a:r>
              <a:rPr lang="en-US" sz="1230" dirty="0">
                <a:solidFill>
                  <a:srgbClr val="263238"/>
                </a:solidFill>
              </a:rPr>
              <a:t>• Mayor velocidad de aprendizaje.</a:t>
            </a:r>
            <a:endParaRPr lang="en-US" sz="1230" dirty="0"/>
          </a:p>
          <a:p>
            <a:pPr indent="0" marL="0">
              <a:buNone/>
            </a:pPr>
            <a:r>
              <a:rPr lang="en-US" sz="1230" dirty="0">
                <a:solidFill>
                  <a:srgbClr val="263238"/>
                </a:solidFill>
              </a:rPr>
              <a:t>• Priorización por probabilidad y costo.</a:t>
            </a:r>
            <a:endParaRPr lang="en-US" sz="1230" dirty="0"/>
          </a:p>
          <a:p>
            <a:pPr indent="0" marL="0">
              <a:buNone/>
            </a:pPr>
            <a:r>
              <a:rPr lang="en-US" sz="1230" dirty="0">
                <a:solidFill>
                  <a:srgbClr val="263238"/>
                </a:solidFill>
              </a:rPr>
              <a:t>• Mejor gobierno de experimentos.</a:t>
            </a:r>
            <a:endParaRPr lang="en-US" sz="1230" dirty="0"/>
          </a:p>
        </p:txBody>
      </p:sp>
      <p:sp>
        <p:nvSpPr>
          <p:cNvPr id="10" name="Text 8"/>
          <p:cNvSpPr/>
          <p:nvPr/>
        </p:nvSpPr>
        <p:spPr>
          <a:xfrm>
            <a:off x="4434840" y="1051560"/>
            <a:ext cx="2011680" cy="219456"/>
          </a:xfrm>
          <a:prstGeom prst="rect">
            <a:avLst/>
          </a:prstGeom>
          <a:noFill/>
          <a:ln/>
        </p:spPr>
        <p:txBody>
          <a:bodyPr wrap="square" lIns="0" tIns="0" rIns="0" bIns="0" rtlCol="0" anchor="ctr"/>
          <a:lstStyle/>
          <a:p>
            <a:pPr indent="0" marL="0">
              <a:buNone/>
            </a:pPr>
            <a:r>
              <a:rPr lang="en-US" sz="850" b="1" dirty="0">
                <a:solidFill>
                  <a:srgbClr val="F28C28"/>
                </a:solidFill>
              </a:rPr>
              <a:t>RIESGOS</a:t>
            </a:r>
            <a:endParaRPr lang="en-US" sz="850" dirty="0"/>
          </a:p>
        </p:txBody>
      </p:sp>
      <p:sp>
        <p:nvSpPr>
          <p:cNvPr id="11" name="Text 9"/>
          <p:cNvSpPr/>
          <p:nvPr/>
        </p:nvSpPr>
        <p:spPr>
          <a:xfrm>
            <a:off x="4480560" y="1389888"/>
            <a:ext cx="3063240" cy="1143000"/>
          </a:xfrm>
          <a:prstGeom prst="rect">
            <a:avLst/>
          </a:prstGeom>
          <a:noFill/>
          <a:ln/>
        </p:spPr>
        <p:txBody>
          <a:bodyPr wrap="square" lIns="508" tIns="508" rIns="508" bIns="508" rtlCol="0" anchor="t">
            <a:normAutofit/>
          </a:bodyPr>
          <a:lstStyle/>
          <a:p>
            <a:pPr indent="0" marL="0">
              <a:buNone/>
            </a:pPr>
            <a:r>
              <a:rPr lang="en-US" sz="1230" dirty="0">
                <a:solidFill>
                  <a:srgbClr val="263238"/>
                </a:solidFill>
              </a:rPr>
              <a:t>• Data sintética no sustituye data real.</a:t>
            </a:r>
            <a:endParaRPr lang="en-US" sz="1230" dirty="0"/>
          </a:p>
          <a:p>
            <a:pPr indent="0" marL="0">
              <a:buNone/>
            </a:pPr>
            <a:r>
              <a:rPr lang="en-US" sz="1230" dirty="0">
                <a:solidFill>
                  <a:srgbClr val="263238"/>
                </a:solidFill>
              </a:rPr>
              <a:t>• Sesgo por segmento.</a:t>
            </a:r>
            <a:endParaRPr lang="en-US" sz="1230" dirty="0"/>
          </a:p>
          <a:p>
            <a:pPr indent="0" marL="0">
              <a:buNone/>
            </a:pPr>
            <a:r>
              <a:rPr lang="en-US" sz="1230" dirty="0">
                <a:solidFill>
                  <a:srgbClr val="263238"/>
                </a:solidFill>
              </a:rPr>
              <a:t>• Drift de comportamiento.</a:t>
            </a:r>
            <a:endParaRPr lang="en-US" sz="1230" dirty="0"/>
          </a:p>
          <a:p>
            <a:pPr indent="0" marL="0">
              <a:buNone/>
            </a:pPr>
            <a:r>
              <a:rPr lang="en-US" sz="1230" dirty="0">
                <a:solidFill>
                  <a:srgbClr val="263238"/>
                </a:solidFill>
              </a:rPr>
              <a:t>• Cansancio del cliente por sobrecontacto.</a:t>
            </a:r>
            <a:endParaRPr lang="en-US" sz="1230" dirty="0"/>
          </a:p>
        </p:txBody>
      </p:sp>
      <p:sp>
        <p:nvSpPr>
          <p:cNvPr id="12" name="Text 10"/>
          <p:cNvSpPr/>
          <p:nvPr/>
        </p:nvSpPr>
        <p:spPr>
          <a:xfrm>
            <a:off x="8092440" y="1051560"/>
            <a:ext cx="2011680" cy="219456"/>
          </a:xfrm>
          <a:prstGeom prst="rect">
            <a:avLst/>
          </a:prstGeom>
          <a:noFill/>
          <a:ln/>
        </p:spPr>
        <p:txBody>
          <a:bodyPr wrap="square" lIns="0" tIns="0" rIns="0" bIns="0" rtlCol="0" anchor="ctr"/>
          <a:lstStyle/>
          <a:p>
            <a:pPr indent="0" marL="0">
              <a:buNone/>
            </a:pPr>
            <a:r>
              <a:rPr lang="en-US" sz="850" b="1" dirty="0">
                <a:solidFill>
                  <a:srgbClr val="F28C28"/>
                </a:solidFill>
              </a:rPr>
              <a:t>CONTROLES</a:t>
            </a:r>
            <a:endParaRPr lang="en-US" sz="850" dirty="0"/>
          </a:p>
        </p:txBody>
      </p:sp>
      <p:sp>
        <p:nvSpPr>
          <p:cNvPr id="13" name="Text 11"/>
          <p:cNvSpPr/>
          <p:nvPr/>
        </p:nvSpPr>
        <p:spPr>
          <a:xfrm>
            <a:off x="8138160" y="1389888"/>
            <a:ext cx="3063240" cy="1143000"/>
          </a:xfrm>
          <a:prstGeom prst="rect">
            <a:avLst/>
          </a:prstGeom>
          <a:noFill/>
          <a:ln/>
        </p:spPr>
        <p:txBody>
          <a:bodyPr wrap="square" lIns="508" tIns="508" rIns="508" bIns="508" rtlCol="0" anchor="t">
            <a:normAutofit/>
          </a:bodyPr>
          <a:lstStyle/>
          <a:p>
            <a:pPr indent="0" marL="0">
              <a:buNone/>
            </a:pPr>
            <a:r>
              <a:rPr lang="en-US" sz="1230" dirty="0">
                <a:solidFill>
                  <a:srgbClr val="263238"/>
                </a:solidFill>
              </a:rPr>
              <a:t>• A/B testing controlado.</a:t>
            </a:r>
            <a:endParaRPr lang="en-US" sz="1230" dirty="0"/>
          </a:p>
          <a:p>
            <a:pPr indent="0" marL="0">
              <a:buNone/>
            </a:pPr>
            <a:r>
              <a:rPr lang="en-US" sz="1230" dirty="0">
                <a:solidFill>
                  <a:srgbClr val="263238"/>
                </a:solidFill>
              </a:rPr>
              <a:t>• Monitoreo mensual de drift.</a:t>
            </a:r>
            <a:endParaRPr lang="en-US" sz="1230" dirty="0"/>
          </a:p>
          <a:p>
            <a:pPr indent="0" marL="0">
              <a:buNone/>
            </a:pPr>
            <a:r>
              <a:rPr lang="en-US" sz="1230" dirty="0">
                <a:solidFill>
                  <a:srgbClr val="263238"/>
                </a:solidFill>
              </a:rPr>
              <a:t>• Métricas por segmento.</a:t>
            </a:r>
            <a:endParaRPr lang="en-US" sz="1230" dirty="0"/>
          </a:p>
          <a:p>
            <a:pPr indent="0" marL="0">
              <a:buNone/>
            </a:pPr>
            <a:r>
              <a:rPr lang="en-US" sz="1230" dirty="0">
                <a:solidFill>
                  <a:srgbClr val="263238"/>
                </a:solidFill>
              </a:rPr>
              <a:t>• Privacidad y frecuencia de contacto.</a:t>
            </a:r>
            <a:endParaRPr lang="en-US" sz="1230" dirty="0"/>
          </a:p>
        </p:txBody>
      </p:sp>
      <p:sp>
        <p:nvSpPr>
          <p:cNvPr id="14" name="Text 12"/>
          <p:cNvSpPr/>
          <p:nvPr/>
        </p:nvSpPr>
        <p:spPr>
          <a:xfrm>
            <a:off x="960120" y="3977640"/>
            <a:ext cx="9875520" cy="621792"/>
          </a:xfrm>
          <a:prstGeom prst="rect">
            <a:avLst/>
          </a:prstGeom>
          <a:noFill/>
          <a:ln/>
        </p:spPr>
        <p:txBody>
          <a:bodyPr wrap="square" lIns="381" tIns="381" rIns="381" bIns="381" rtlCol="0" anchor="ctr">
            <a:normAutofit/>
          </a:bodyPr>
          <a:lstStyle/>
          <a:p>
            <a:pPr indent="0" marL="0">
              <a:buNone/>
            </a:pPr>
            <a:r>
              <a:rPr lang="en-US" sz="2200" b="1" dirty="0">
                <a:solidFill>
                  <a:srgbClr val="00264D"/>
                </a:solidFill>
              </a:rPr>
              <a:t>Recomendación: usar el modelo como filtro de priorización, no como decisión automática.</a:t>
            </a:r>
            <a:endParaRPr lang="en-US" sz="2200" dirty="0"/>
          </a:p>
        </p:txBody>
      </p:sp>
      <p:sp>
        <p:nvSpPr>
          <p:cNvPr id="15" name="Shape 13"/>
          <p:cNvSpPr/>
          <p:nvPr/>
        </p:nvSpPr>
        <p:spPr>
          <a:xfrm>
            <a:off x="960120" y="4709160"/>
            <a:ext cx="9875520" cy="0"/>
          </a:xfrm>
          <a:prstGeom prst="line">
            <a:avLst/>
          </a:prstGeom>
          <a:noFill/>
          <a:ln w="30480">
            <a:solidFill>
              <a:srgbClr val="F28C28"/>
            </a:solidFill>
            <a:prstDash val="solid"/>
          </a:ln>
        </p:spPr>
      </p:sp>
      <p:sp>
        <p:nvSpPr>
          <p:cNvPr id="16" name="Text 14"/>
          <p:cNvSpPr/>
          <p:nvPr/>
        </p:nvSpPr>
        <p:spPr>
          <a:xfrm>
            <a:off x="960120" y="5074920"/>
            <a:ext cx="9875520" cy="256032"/>
          </a:xfrm>
          <a:prstGeom prst="rect">
            <a:avLst/>
          </a:prstGeom>
          <a:noFill/>
          <a:ln/>
        </p:spPr>
        <p:txBody>
          <a:bodyPr wrap="square" lIns="0" tIns="0" rIns="0" bIns="0" rtlCol="0" anchor="ctr"/>
          <a:lstStyle/>
          <a:p>
            <a:pPr indent="0" marL="0">
              <a:buNone/>
            </a:pPr>
            <a:r>
              <a:rPr lang="en-US" sz="1150" b="1" dirty="0">
                <a:solidFill>
                  <a:srgbClr val="F28C28"/>
                </a:solidFill>
              </a:rPr>
              <a:t>Condición de despliegue</a:t>
            </a:r>
            <a:endParaRPr lang="en-US" sz="1150" dirty="0"/>
          </a:p>
        </p:txBody>
      </p:sp>
      <p:sp>
        <p:nvSpPr>
          <p:cNvPr id="17" name="Text 15"/>
          <p:cNvSpPr/>
          <p:nvPr/>
        </p:nvSpPr>
        <p:spPr>
          <a:xfrm>
            <a:off x="960120" y="5385816"/>
            <a:ext cx="9875520" cy="219456"/>
          </a:xfrm>
          <a:prstGeom prst="rect">
            <a:avLst/>
          </a:prstGeom>
          <a:solidFill>
            <a:srgbClr val="FFF4E8"/>
          </a:solidFill>
          <a:ln w="10160">
            <a:solidFill>
              <a:srgbClr val="D9E2EC"/>
            </a:solidFill>
          </a:ln>
        </p:spPr>
        <p:txBody>
          <a:bodyPr wrap="square" lIns="1651" tIns="1651" rIns="1651" bIns="1651" rtlCol="0" anchor="ctr">
            <a:normAutofit/>
          </a:bodyPr>
          <a:lstStyle/>
          <a:p>
            <a:pPr indent="0" marL="0">
              <a:buNone/>
            </a:pPr>
            <a:r>
              <a:rPr lang="en-US" sz="1140" dirty="0">
                <a:solidFill>
                  <a:srgbClr val="263238"/>
                </a:solidFill>
              </a:rPr>
              <a:t>Antes de producción, reemplazar la data sintética por una muestra anonimizada y validar el uplift con un experimento real.</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3A70"/>
          </a:solidFill>
          <a:ln w="12700">
            <a:solidFill>
              <a:srgbClr val="003A70"/>
            </a:solidFill>
            <a:prstDash val="solid"/>
          </a:ln>
        </p:spPr>
      </p:sp>
      <p:sp>
        <p:nvSpPr>
          <p:cNvPr id="3" name="Shape 1"/>
          <p:cNvSpPr/>
          <p:nvPr/>
        </p:nvSpPr>
        <p:spPr>
          <a:xfrm>
            <a:off x="0" y="658368"/>
            <a:ext cx="12191695" cy="54864"/>
          </a:xfrm>
          <a:prstGeom prst="rect">
            <a:avLst/>
          </a:prstGeom>
          <a:solidFill>
            <a:srgbClr val="F28C28"/>
          </a:solidFill>
          <a:ln w="12700">
            <a:solidFill>
              <a:srgbClr val="F28C28"/>
            </a:solidFill>
            <a:prstDash val="solid"/>
          </a:ln>
        </p:spPr>
      </p:sp>
      <p:sp>
        <p:nvSpPr>
          <p:cNvPr id="4" name="Text 2"/>
          <p:cNvSpPr/>
          <p:nvPr/>
        </p:nvSpPr>
        <p:spPr>
          <a:xfrm>
            <a:off x="502920" y="164592"/>
            <a:ext cx="8046720" cy="292608"/>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Conclusiones y próximos pasos</a:t>
            </a:r>
            <a:endParaRPr lang="en-US" sz="1900" dirty="0"/>
          </a:p>
        </p:txBody>
      </p:sp>
      <p:sp>
        <p:nvSpPr>
          <p:cNvPr id="5" name="Text 3"/>
          <p:cNvSpPr/>
          <p:nvPr/>
        </p:nvSpPr>
        <p:spPr>
          <a:xfrm>
            <a:off x="8549640" y="201168"/>
            <a:ext cx="3154680" cy="219456"/>
          </a:xfrm>
          <a:prstGeom prst="rect">
            <a:avLst/>
          </a:prstGeom>
          <a:noFill/>
          <a:ln/>
        </p:spPr>
        <p:txBody>
          <a:bodyPr wrap="square" lIns="0" tIns="0" rIns="0" bIns="0" rtlCol="0" anchor="ctr"/>
          <a:lstStyle/>
          <a:p>
            <a:pPr algn="r" indent="0" marL="0">
              <a:buNone/>
            </a:pPr>
            <a:r>
              <a:rPr lang="en-US" sz="880" b="1" dirty="0">
                <a:solidFill>
                  <a:srgbClr val="FFFFFF"/>
                </a:solidFill>
              </a:rPr>
              <a:t>Cierre ejecutivo</a:t>
            </a:r>
            <a:endParaRPr lang="en-US" sz="880" dirty="0"/>
          </a:p>
        </p:txBody>
      </p:sp>
      <p:sp>
        <p:nvSpPr>
          <p:cNvPr id="6" name="Text 4"/>
          <p:cNvSpPr/>
          <p:nvPr/>
        </p:nvSpPr>
        <p:spPr>
          <a:xfrm>
            <a:off x="502920" y="6510528"/>
            <a:ext cx="8412480" cy="182880"/>
          </a:xfrm>
          <a:prstGeom prst="rect">
            <a:avLst/>
          </a:prstGeom>
          <a:noFill/>
          <a:ln/>
        </p:spPr>
        <p:txBody>
          <a:bodyPr wrap="square" lIns="0" tIns="0" rIns="0" bIns="0" rtlCol="0" anchor="ctr"/>
          <a:lstStyle/>
          <a:p>
            <a:pPr indent="0" marL="0">
              <a:buNone/>
            </a:pPr>
            <a:r>
              <a:rPr lang="en-US" sz="750" dirty="0">
                <a:solidFill>
                  <a:srgbClr val="667085"/>
                </a:solidFill>
              </a:rPr>
              <a:t>ESAN · Machine Learning &amp; Deep Learning · Caso académico con datos sintéticos</a:t>
            </a:r>
            <a:endParaRPr lang="en-US" sz="750" dirty="0"/>
          </a:p>
        </p:txBody>
      </p:sp>
      <p:sp>
        <p:nvSpPr>
          <p:cNvPr id="7" name="Text 5"/>
          <p:cNvSpPr/>
          <p:nvPr/>
        </p:nvSpPr>
        <p:spPr>
          <a:xfrm>
            <a:off x="11155680" y="6492240"/>
            <a:ext cx="548640" cy="182880"/>
          </a:xfrm>
          <a:prstGeom prst="rect">
            <a:avLst/>
          </a:prstGeom>
          <a:noFill/>
          <a:ln/>
        </p:spPr>
        <p:txBody>
          <a:bodyPr wrap="square" lIns="0" tIns="0" rIns="0" bIns="0" rtlCol="0" anchor="ctr"/>
          <a:lstStyle/>
          <a:p>
            <a:pPr algn="r" indent="0" marL="0">
              <a:buNone/>
            </a:pPr>
            <a:r>
              <a:rPr lang="en-US" sz="820" dirty="0">
                <a:solidFill>
                  <a:srgbClr val="667085"/>
                </a:solidFill>
              </a:rPr>
              <a:t>16</a:t>
            </a:r>
            <a:endParaRPr lang="en-US" sz="820" dirty="0"/>
          </a:p>
        </p:txBody>
      </p:sp>
      <p:sp>
        <p:nvSpPr>
          <p:cNvPr id="8" name="Text 6"/>
          <p:cNvSpPr/>
          <p:nvPr/>
        </p:nvSpPr>
        <p:spPr>
          <a:xfrm>
            <a:off x="731520" y="1051560"/>
            <a:ext cx="2194560" cy="219456"/>
          </a:xfrm>
          <a:prstGeom prst="rect">
            <a:avLst/>
          </a:prstGeom>
          <a:noFill/>
          <a:ln/>
        </p:spPr>
        <p:txBody>
          <a:bodyPr wrap="square" lIns="0" tIns="0" rIns="0" bIns="0" rtlCol="0" anchor="ctr"/>
          <a:lstStyle/>
          <a:p>
            <a:pPr indent="0" marL="0">
              <a:buNone/>
            </a:pPr>
            <a:r>
              <a:rPr lang="en-US" sz="850" b="1" dirty="0">
                <a:solidFill>
                  <a:srgbClr val="F28C28"/>
                </a:solidFill>
              </a:rPr>
              <a:t>CONCLUSIONES</a:t>
            </a:r>
            <a:endParaRPr lang="en-US" sz="850" dirty="0"/>
          </a:p>
        </p:txBody>
      </p:sp>
      <p:sp>
        <p:nvSpPr>
          <p:cNvPr id="9" name="Text 7"/>
          <p:cNvSpPr/>
          <p:nvPr/>
        </p:nvSpPr>
        <p:spPr>
          <a:xfrm>
            <a:off x="777240" y="1389888"/>
            <a:ext cx="10241280" cy="1353312"/>
          </a:xfrm>
          <a:prstGeom prst="rect">
            <a:avLst/>
          </a:prstGeom>
          <a:noFill/>
          <a:ln/>
        </p:spPr>
        <p:txBody>
          <a:bodyPr wrap="square" lIns="508" tIns="508" rIns="508" bIns="508" rtlCol="0" anchor="t">
            <a:normAutofit/>
          </a:bodyPr>
          <a:lstStyle/>
          <a:p>
            <a:pPr indent="0" marL="0">
              <a:buNone/>
            </a:pPr>
            <a:r>
              <a:rPr lang="en-US" sz="1300" dirty="0">
                <a:solidFill>
                  <a:srgbClr val="263238"/>
                </a:solidFill>
              </a:rPr>
              <a:t>• El pipeline compara baseline y modelos alternativos de forma reproducible.</a:t>
            </a:r>
            <a:endParaRPr lang="en-US" sz="1300" dirty="0"/>
          </a:p>
          <a:p>
            <a:pPr indent="0" marL="0">
              <a:buNone/>
            </a:pPr>
            <a:r>
              <a:rPr lang="en-US" sz="1300" dirty="0">
                <a:solidFill>
                  <a:srgbClr val="263238"/>
                </a:solidFill>
              </a:rPr>
              <a:t>• XGBoost ofrece probabilidades útiles para priorizar campañas.</a:t>
            </a:r>
            <a:endParaRPr lang="en-US" sz="1300" dirty="0"/>
          </a:p>
          <a:p>
            <a:pPr indent="0" marL="0">
              <a:buNone/>
            </a:pPr>
            <a:r>
              <a:rPr lang="en-US" sz="1300" dirty="0">
                <a:solidFill>
                  <a:srgbClr val="263238"/>
                </a:solidFill>
              </a:rPr>
              <a:t>• La Optimización Bayesiana transforma la predicción en recomendación de prueba.</a:t>
            </a:r>
            <a:endParaRPr lang="en-US" sz="1300" dirty="0"/>
          </a:p>
          <a:p>
            <a:pPr indent="0" marL="0">
              <a:buNone/>
            </a:pPr>
            <a:r>
              <a:rPr lang="en-US" sz="1300" dirty="0">
                <a:solidFill>
                  <a:srgbClr val="263238"/>
                </a:solidFill>
              </a:rPr>
              <a:t>• El enfoque permite aprender más con menos experimentos.</a:t>
            </a:r>
            <a:endParaRPr lang="en-US" sz="1300" dirty="0"/>
          </a:p>
        </p:txBody>
      </p:sp>
      <p:sp>
        <p:nvSpPr>
          <p:cNvPr id="10" name="Text 8"/>
          <p:cNvSpPr/>
          <p:nvPr/>
        </p:nvSpPr>
        <p:spPr>
          <a:xfrm>
            <a:off x="731520" y="3337560"/>
            <a:ext cx="2560320" cy="219456"/>
          </a:xfrm>
          <a:prstGeom prst="rect">
            <a:avLst/>
          </a:prstGeom>
          <a:noFill/>
          <a:ln/>
        </p:spPr>
        <p:txBody>
          <a:bodyPr wrap="square" lIns="0" tIns="0" rIns="0" bIns="0" rtlCol="0" anchor="ctr"/>
          <a:lstStyle/>
          <a:p>
            <a:pPr indent="0" marL="0">
              <a:buNone/>
            </a:pPr>
            <a:r>
              <a:rPr lang="en-US" sz="850" b="1" dirty="0">
                <a:solidFill>
                  <a:srgbClr val="F28C28"/>
                </a:solidFill>
              </a:rPr>
              <a:t>PRÓXIMOS PASOS</a:t>
            </a:r>
            <a:endParaRPr lang="en-US" sz="850" dirty="0"/>
          </a:p>
        </p:txBody>
      </p:sp>
      <p:sp>
        <p:nvSpPr>
          <p:cNvPr id="11" name="Text 9"/>
          <p:cNvSpPr/>
          <p:nvPr/>
        </p:nvSpPr>
        <p:spPr>
          <a:xfrm>
            <a:off x="777240" y="3675888"/>
            <a:ext cx="10241280" cy="1234440"/>
          </a:xfrm>
          <a:prstGeom prst="rect">
            <a:avLst/>
          </a:prstGeom>
          <a:noFill/>
          <a:ln/>
        </p:spPr>
        <p:txBody>
          <a:bodyPr wrap="square" lIns="508" tIns="508" rIns="508" bIns="508" rtlCol="0" anchor="t">
            <a:normAutofit/>
          </a:bodyPr>
          <a:lstStyle/>
          <a:p>
            <a:pPr indent="0" marL="0">
              <a:buNone/>
            </a:pPr>
            <a:r>
              <a:rPr lang="en-US" sz="1300" dirty="0">
                <a:solidFill>
                  <a:srgbClr val="263238"/>
                </a:solidFill>
              </a:rPr>
              <a:t>• Reemplazar data sintética por muestra anonimizada.</a:t>
            </a:r>
            <a:endParaRPr lang="en-US" sz="1300" dirty="0"/>
          </a:p>
          <a:p>
            <a:pPr indent="0" marL="0">
              <a:buNone/>
            </a:pPr>
            <a:r>
              <a:rPr lang="en-US" sz="1300" dirty="0">
                <a:solidFill>
                  <a:srgbClr val="263238"/>
                </a:solidFill>
              </a:rPr>
              <a:t>• Implementar MLflow o registro equivalente de modelos.</a:t>
            </a:r>
            <a:endParaRPr lang="en-US" sz="1300" dirty="0"/>
          </a:p>
          <a:p>
            <a:pPr indent="0" marL="0">
              <a:buNone/>
            </a:pPr>
            <a:r>
              <a:rPr lang="en-US" sz="1300" dirty="0">
                <a:solidFill>
                  <a:srgbClr val="263238"/>
                </a:solidFill>
              </a:rPr>
              <a:t>• Publicar una API interna de recomendación.</a:t>
            </a:r>
            <a:endParaRPr lang="en-US" sz="1300" dirty="0"/>
          </a:p>
          <a:p>
            <a:pPr indent="0" marL="0">
              <a:buNone/>
            </a:pPr>
            <a:r>
              <a:rPr lang="en-US" sz="1300" dirty="0">
                <a:solidFill>
                  <a:srgbClr val="263238"/>
                </a:solidFill>
              </a:rPr>
              <a:t>• Validar uplift con A/B testing real.</a:t>
            </a:r>
            <a:endParaRPr lang="en-US" sz="1300" dirty="0"/>
          </a:p>
          <a:p>
            <a:pPr indent="0" marL="0">
              <a:buNone/>
            </a:pPr>
            <a:r>
              <a:rPr lang="en-US" sz="1300" dirty="0">
                <a:solidFill>
                  <a:srgbClr val="263238"/>
                </a:solidFill>
              </a:rPr>
              <a:t>• Monitorear drift, sesgo y frecuencia de contacto.</a:t>
            </a:r>
            <a:endParaRPr lang="en-US" sz="1300" dirty="0"/>
          </a:p>
        </p:txBody>
      </p:sp>
      <p:sp>
        <p:nvSpPr>
          <p:cNvPr id="12" name="Text 10"/>
          <p:cNvSpPr/>
          <p:nvPr/>
        </p:nvSpPr>
        <p:spPr>
          <a:xfrm>
            <a:off x="777240" y="5806440"/>
            <a:ext cx="10515600" cy="292608"/>
          </a:xfrm>
          <a:prstGeom prst="rect">
            <a:avLst/>
          </a:prstGeom>
          <a:noFill/>
          <a:ln/>
        </p:spPr>
        <p:txBody>
          <a:bodyPr wrap="square" lIns="0" tIns="0" rIns="0" bIns="0" rtlCol="0" anchor="ctr"/>
          <a:lstStyle/>
          <a:p>
            <a:pPr algn="ctr" indent="0" marL="0">
              <a:buNone/>
            </a:pPr>
            <a:r>
              <a:rPr lang="en-US" sz="850" dirty="0">
                <a:solidFill>
                  <a:srgbClr val="667085"/>
                </a:solidFill>
              </a:rPr>
              <a:t>Referencias: Rúbrica ESAN ML/DL 2026; Brochu, Cora &amp; de Freitas (2010); proyecto previo Grupo 4; ejemplo de proyecto del curso.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ESAN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conversión y Optimización Bayesiana de campañas digitales y WhatsApp</dc:title>
  <dc:subject>Proyecto final ML/DL - propuesta A</dc:subject>
  <dc:creator>OpenAI</dc:creator>
  <cp:lastModifiedBy>OpenAI</cp:lastModifiedBy>
  <cp:revision>1</cp:revision>
  <dcterms:created xsi:type="dcterms:W3CDTF">2026-08-13T03:10:26Z</dcterms:created>
  <dcterms:modified xsi:type="dcterms:W3CDTF">2026-08-13T03:10:26Z</dcterms:modified>
</cp:coreProperties>
</file>